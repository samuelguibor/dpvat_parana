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97c5a55-2503-e195-d43d-623fa4e45805}">
          <p14:sldIdLst>
            <p14:sldId id="256"/>
          </p14:sldIdLst>
        </p14:section>
        <p14:section name="Como funciona" id="{520520fb-e583-b589-40fc-4e2f3582cd46}">
          <p14:sldIdLst>
            <p14:sldId id="257"/>
            <p14:sldId id="258"/>
            <p14:sldId id="259"/>
          </p14:sldIdLst>
        </p14:section>
        <p14:section name="Controle" id="{5a14e111-8e76-3af3-592e-ea558c366210}">
          <p14:sldIdLst>
            <p14:sldId id="260"/>
          </p14:sldIdLst>
        </p14:section>
        <p14:section name="Funcionalidades" id="{00ffe29b-fab6-418a-5f38-1377f54658c0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sultados" id="{61ffd358-29c7-a32c-fc77-219c7718d248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32238"/>
                </a:solidFill>
                <a:latin typeface="+mn-lt"/>
              </a:rPr>
              <a:t>Pastas por mês com o mesmo tempo de trabalho operacional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Pastas por mês</c:v>
                </c:pt>
              </c:strCache>
            </c:strRef>
          </c:tx>
          <c:spPr>
            <a:solidFill>
              <a:srgbClr val="8A9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3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8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Hoje</c:v>
                  </c:pt>
                  <c:pt idx="1">
                    <c:v>IA faz 30%</c:v>
                  </c:pt>
                  <c:pt idx="2">
                    <c:v>IA faz 50%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143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3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3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AI First coloca a IA para operar o CRM junto com a equipe. Tudo que ela faz passa pelas regras do CRM e fica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interface é o próprio chat. O operador não precisa abrir várias telas: pede, confere e aprova.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 First · Seguros Paraná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AI First · Seguros Paraná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lho-teal"/>
          <p:cNvSpPr/>
          <p:nvPr/>
        </p:nvSpPr>
        <p:spPr>
          <a:xfrm>
            <a:off x="7680960" y="-1463040"/>
            <a:ext cx="6583680" cy="6583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brilho-coral"/>
          <p:cNvSpPr/>
          <p:nvPr/>
        </p:nvSpPr>
        <p:spPr>
          <a:xfrm>
            <a:off x="9418320" y="4023360"/>
            <a:ext cx="4389120" cy="438912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4" name="orbita-0"/>
          <p:cNvSpPr/>
          <p:nvPr/>
        </p:nvSpPr>
        <p:spPr>
          <a:xfrm>
            <a:off x="8458200" y="2468880"/>
            <a:ext cx="2286000" cy="2286000"/>
          </a:xfrm>
          <a:prstGeom prst="ellipse">
            <a:avLst/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orbita-1"/>
          <p:cNvSpPr/>
          <p:nvPr/>
        </p:nvSpPr>
        <p:spPr>
          <a:xfrm>
            <a:off x="7818120" y="1828800"/>
            <a:ext cx="3566160" cy="3566160"/>
          </a:xfrm>
          <a:prstGeom prst="ellipse">
            <a:avLst/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6" name="orbita-2"/>
          <p:cNvSpPr/>
          <p:nvPr/>
        </p:nvSpPr>
        <p:spPr>
          <a:xfrm>
            <a:off x="7132320" y="1143000"/>
            <a:ext cx="4937760" cy="4937760"/>
          </a:xfrm>
          <a:prstGeom prst="ellipse">
            <a:avLst/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nucleo"/>
          <p:cNvSpPr/>
          <p:nvPr/>
        </p:nvSpPr>
        <p:spPr>
          <a:xfrm>
            <a:off x="9281160" y="32918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texto-1"/>
          <p:cNvSpPr txBox="1"/>
          <p:nvPr/>
        </p:nvSpPr>
        <p:spPr>
          <a:xfrm>
            <a:off x="92811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tx1"/>
                </a:solidFill>
              </a:rPr>
              <a:t>CRM</a:t>
            </a:r>
            <a:endParaRPr lang="pt-BR" sz="1300" dirty="0"/>
          </a:p>
        </p:txBody>
      </p:sp>
      <p:sp>
        <p:nvSpPr>
          <p:cNvPr id="9" name="ponto-0"/>
          <p:cNvSpPr/>
          <p:nvPr/>
        </p:nvSpPr>
        <p:spPr>
          <a:xfrm>
            <a:off x="10680192" y="354787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ponto-1"/>
          <p:cNvSpPr/>
          <p:nvPr/>
        </p:nvSpPr>
        <p:spPr>
          <a:xfrm>
            <a:off x="9528048" y="1755648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ponto-2"/>
          <p:cNvSpPr/>
          <p:nvPr/>
        </p:nvSpPr>
        <p:spPr>
          <a:xfrm>
            <a:off x="7836408" y="26791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onto-3"/>
          <p:cNvSpPr/>
          <p:nvPr/>
        </p:nvSpPr>
        <p:spPr>
          <a:xfrm>
            <a:off x="11292840" y="4800600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ponto-4"/>
          <p:cNvSpPr/>
          <p:nvPr/>
        </p:nvSpPr>
        <p:spPr>
          <a:xfrm>
            <a:off x="8321040" y="5257800"/>
            <a:ext cx="155448" cy="1554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texto-2"/>
          <p:cNvSpPr txBox="1"/>
          <p:nvPr/>
        </p:nvSpPr>
        <p:spPr>
          <a:xfrm>
            <a:off x="77724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b="1" spc="300" kern="0" dirty="0">
                <a:solidFill>
                  <a:schemeClr val="accent3"/>
                </a:solidFill>
              </a:rPr>
              <a:t>SEGUROS PARANÁ · OPERAÇÃO POR IA</a:t>
            </a:r>
            <a:endParaRPr lang="pt-BR" sz="1200" dirty="0"/>
          </a:p>
        </p:txBody>
      </p:sp>
      <p:sp>
        <p:nvSpPr>
          <p:cNvPr id="15" name="texto-3"/>
          <p:cNvSpPr txBox="1"/>
          <p:nvPr/>
        </p:nvSpPr>
        <p:spPr>
          <a:xfrm>
            <a:off x="777240" y="1234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7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First</a:t>
            </a:r>
            <a:endParaRPr lang="pt-BR" sz="7200" dirty="0"/>
          </a:p>
        </p:txBody>
      </p:sp>
      <p:sp>
        <p:nvSpPr>
          <p:cNvPr id="16" name="texto-4"/>
          <p:cNvSpPr txBox="1"/>
          <p:nvPr/>
        </p:nvSpPr>
        <p:spPr>
          <a:xfrm>
            <a:off x="777240" y="2468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200" dirty="0">
                <a:solidFill>
                  <a:schemeClr val="bg1"/>
                </a:solidFill>
              </a:rPr>
              <a:t>O que a equipe já consegue fazer no CRM </a:t>
            </a:r>
            <a:r>
              <a:rPr lang="pt-BR" altLang="en-US" sz="2200" b="1" dirty="0">
                <a:solidFill>
                  <a:schemeClr val="bg1"/>
                </a:solidFill>
              </a:rPr>
              <a:t>só conversando com a IA</a:t>
            </a:r>
            <a:r>
              <a:rPr lang="pt-BR" altLang="en-US" sz="2200" dirty="0">
                <a:solidFill>
                  <a:schemeClr val="bg1"/>
                </a:solidFill>
              </a:rPr>
              <a:t> — de um card ou de vários de uma vez.</a:t>
            </a:r>
            <a:endParaRPr lang="pt-BR" sz="2200" dirty="0"/>
          </a:p>
        </p:txBody>
      </p:sp>
      <p:sp>
        <p:nvSpPr>
          <p:cNvPr id="17" name="selo-5"/>
          <p:cNvSpPr/>
          <p:nvPr/>
        </p:nvSpPr>
        <p:spPr>
          <a:xfrm>
            <a:off x="777240" y="3977640"/>
            <a:ext cx="153619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8" name="texto-6"/>
          <p:cNvSpPr txBox="1"/>
          <p:nvPr/>
        </p:nvSpPr>
        <p:spPr>
          <a:xfrm>
            <a:off x="777240" y="39776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42 ferramentas</a:t>
            </a:r>
            <a:endParaRPr lang="pt-BR" sz="1300" dirty="0"/>
          </a:p>
        </p:txBody>
      </p:sp>
      <p:sp>
        <p:nvSpPr>
          <p:cNvPr id="19" name="selo-7"/>
          <p:cNvSpPr/>
          <p:nvPr/>
        </p:nvSpPr>
        <p:spPr>
          <a:xfrm>
            <a:off x="2450592" y="3977640"/>
            <a:ext cx="110185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0" name="texto-8"/>
          <p:cNvSpPr txBox="1"/>
          <p:nvPr/>
        </p:nvSpPr>
        <p:spPr>
          <a:xfrm>
            <a:off x="2450592" y="3977640"/>
            <a:ext cx="1101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19 skills</a:t>
            </a:r>
            <a:endParaRPr lang="pt-BR" sz="1300" dirty="0"/>
          </a:p>
        </p:txBody>
      </p:sp>
      <p:sp>
        <p:nvSpPr>
          <p:cNvPr id="21" name="selo-9"/>
          <p:cNvSpPr/>
          <p:nvPr/>
        </p:nvSpPr>
        <p:spPr>
          <a:xfrm>
            <a:off x="3689604" y="3977640"/>
            <a:ext cx="2752344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2" name="texto-10"/>
          <p:cNvSpPr txBox="1"/>
          <p:nvPr/>
        </p:nvSpPr>
        <p:spPr>
          <a:xfrm>
            <a:off x="3689604" y="397764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leitura de documentos por IA</a:t>
            </a:r>
            <a:endParaRPr lang="pt-BR" sz="1300" dirty="0"/>
          </a:p>
        </p:txBody>
      </p:sp>
      <p:sp>
        <p:nvSpPr>
          <p:cNvPr id="23" name="selo-11"/>
          <p:cNvSpPr/>
          <p:nvPr/>
        </p:nvSpPr>
        <p:spPr>
          <a:xfrm>
            <a:off x="777240" y="4480560"/>
            <a:ext cx="2752344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24" name="texto-12"/>
          <p:cNvSpPr txBox="1"/>
          <p:nvPr/>
        </p:nvSpPr>
        <p:spPr>
          <a:xfrm>
            <a:off x="777240" y="448056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envios em lote com um código</a:t>
            </a:r>
            <a:endParaRPr lang="pt-BR" sz="1300" dirty="0"/>
          </a:p>
        </p:txBody>
      </p:sp>
      <p:sp>
        <p:nvSpPr>
          <p:cNvPr id="25" name="texto-13"/>
          <p:cNvSpPr txBox="1"/>
          <p:nvPr/>
        </p:nvSpPr>
        <p:spPr>
          <a:xfrm>
            <a:off x="7772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00" dirty="0">
                <a:solidFill>
                  <a:schemeClr val="bg1">
                    <a:alpha val="65000"/>
                  </a:schemeClr>
                </a:solidFill>
              </a:rPr>
              <a:t>Versão 2 · atualizada com as mudanças de 27/10/2026</a:t>
            </a:r>
            <a:endParaRPr lang="pt-B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COMO SE USA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Você pede. </a:t>
            </a:r>
            <a:r>
              <a:rPr lang="en-US" sz="3000" b="1" dirty="0">
                <a:solidFill>
                  <a:schemeClr val="accent2"/>
                </a:solidFill>
              </a:rPr>
              <a:t>A IA faz e já entrega pronto</a:t>
            </a:r>
            <a:endParaRPr lang="en-US" sz="3000" dirty="0"/>
          </a:p>
        </p:txBody>
      </p:sp>
      <p:sp>
        <p:nvSpPr>
          <p:cNvPr id="4" name="texto-1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500" dirty="0">
                <a:solidFill>
                  <a:schemeClr val="tx2"/>
                </a:solidFill>
              </a:rPr>
              <a:t>O operador conversa com o Claude (app desktop / Claude Code). A IA lê, compara e prepara antes de responder — e devolve a decisão já proposta.</a:t>
            </a:r>
            <a:endParaRPr lang="pt-BR" sz="1500" dirty="0"/>
          </a:p>
        </p:txBody>
      </p:sp>
      <p:sp>
        <p:nvSpPr>
          <p:cNvPr id="5" name="cartao-15"/>
          <p:cNvSpPr/>
          <p:nvPr/>
        </p:nvSpPr>
        <p:spPr>
          <a:xfrm>
            <a:off x="548640" y="2057400"/>
            <a:ext cx="5486400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6" name="texto-16"/>
          <p:cNvSpPr txBox="1"/>
          <p:nvPr/>
        </p:nvSpPr>
        <p:spPr>
          <a:xfrm>
            <a:off x="731520" y="2176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050" dirty="0">
                <a:solidFill>
                  <a:schemeClr val="tx2"/>
                </a:solidFill>
              </a:rPr>
              <a:t>Exemplo (dados fictícios)</a:t>
            </a:r>
            <a:endParaRPr lang="pt-BR" sz="1050" dirty="0"/>
          </a:p>
        </p:txBody>
      </p:sp>
      <p:sp>
        <p:nvSpPr>
          <p:cNvPr id="7" name="cartao-17"/>
          <p:cNvSpPr/>
          <p:nvPr/>
        </p:nvSpPr>
        <p:spPr>
          <a:xfrm>
            <a:off x="2377440" y="2468880"/>
            <a:ext cx="3474720" cy="41148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8" name="texto-18"/>
          <p:cNvSpPr txBox="1"/>
          <p:nvPr/>
        </p:nvSpPr>
        <p:spPr>
          <a:xfrm>
            <a:off x="2514600" y="254203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/pendencias COM SENHA - SOLICITADO</a:t>
            </a:r>
            <a:endParaRPr lang="pt-BR" sz="1250" dirty="0"/>
          </a:p>
        </p:txBody>
      </p:sp>
      <p:sp>
        <p:nvSpPr>
          <p:cNvPr id="9" name="cartao-19"/>
          <p:cNvSpPr/>
          <p:nvPr/>
        </p:nvSpPr>
        <p:spPr>
          <a:xfrm>
            <a:off x="731520" y="2999232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exto-20"/>
          <p:cNvSpPr txBox="1"/>
          <p:nvPr/>
        </p:nvSpPr>
        <p:spPr>
          <a:xfrm>
            <a:off x="868680" y="307238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chemeClr val="tx1"/>
                </a:solidFill>
              </a:rPr>
              <a:t>67 cards</a:t>
            </a:r>
            <a:r>
              <a:rPr lang="pt-BR" altLang="en-US" sz="1250" dirty="0">
                <a:solidFill>
                  <a:schemeClr val="tx1"/>
                </a:solidFill>
              </a:rPr>
              <a:t> · o que mais falta: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250" b="1" dirty="0">
                <a:solidFill>
                  <a:schemeClr val="tx1"/>
                </a:solidFill>
              </a:rPr>
              <a:t>RG</a:t>
            </a:r>
            <a:r>
              <a:rPr lang="pt-BR" altLang="en-US" sz="1250" dirty="0">
                <a:solidFill>
                  <a:schemeClr val="tx1"/>
                </a:solidFill>
              </a:rPr>
              <a:t> — 12 cards  ·  </a:t>
            </a:r>
            <a:r>
              <a:rPr lang="pt-BR" altLang="en-US" sz="1250" b="1" dirty="0">
                <a:solidFill>
                  <a:schemeClr val="tx1"/>
                </a:solidFill>
              </a:rPr>
              <a:t>data do acidente</a:t>
            </a:r>
            <a:r>
              <a:rPr lang="pt-BR" altLang="en-US" sz="1250" dirty="0">
                <a:solidFill>
                  <a:schemeClr val="tx1"/>
                </a:solidFill>
              </a:rPr>
              <a:t> — 9  ·  </a:t>
            </a:r>
            <a:r>
              <a:rPr lang="pt-BR" altLang="en-US" sz="1250" b="1" dirty="0">
                <a:solidFill>
                  <a:schemeClr val="tx1"/>
                </a:solidFill>
              </a:rPr>
              <a:t>senha do INSS</a:t>
            </a:r>
            <a:r>
              <a:rPr lang="pt-BR" altLang="en-US" sz="1250" dirty="0">
                <a:solidFill>
                  <a:schemeClr val="tx1"/>
                </a:solidFill>
              </a:rPr>
              <a:t> — 4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Próximo: mando WhatsApp cobrando o RG dos 12?</a:t>
            </a:r>
            <a:endParaRPr lang="pt-BR" sz="1250" dirty="0"/>
          </a:p>
        </p:txBody>
      </p:sp>
      <p:sp>
        <p:nvSpPr>
          <p:cNvPr id="11" name="cartao-21"/>
          <p:cNvSpPr/>
          <p:nvPr/>
        </p:nvSpPr>
        <p:spPr>
          <a:xfrm>
            <a:off x="4937760" y="4352544"/>
            <a:ext cx="91440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</p:sp>
      <p:sp>
        <p:nvSpPr>
          <p:cNvPr id="12" name="texto-22"/>
          <p:cNvSpPr txBox="1"/>
          <p:nvPr/>
        </p:nvSpPr>
        <p:spPr>
          <a:xfrm>
            <a:off x="5074920" y="44256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sim</a:t>
            </a:r>
            <a:endParaRPr lang="pt-BR" sz="1250" dirty="0"/>
          </a:p>
        </p:txBody>
      </p:sp>
      <p:sp>
        <p:nvSpPr>
          <p:cNvPr id="13" name="cartao-23"/>
          <p:cNvSpPr/>
          <p:nvPr/>
        </p:nvSpPr>
        <p:spPr>
          <a:xfrm>
            <a:off x="731520" y="4864608"/>
            <a:ext cx="51206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4" name="texto-24"/>
          <p:cNvSpPr txBox="1"/>
          <p:nvPr/>
        </p:nvSpPr>
        <p:spPr>
          <a:xfrm>
            <a:off x="868680" y="493776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Prévia da mensagem para 12 clientes… Para enviar, digite só </a:t>
            </a:r>
            <a:r>
              <a:rPr lang="pt-BR" altLang="en-US" sz="1250" b="1" dirty="0">
                <a:solidFill>
                  <a:schemeClr val="tx1"/>
                </a:solidFill>
              </a:rPr>
              <a:t>aprovo K7Q2</a:t>
            </a:r>
            <a:endParaRPr lang="pt-BR" sz="1250" dirty="0"/>
          </a:p>
        </p:txBody>
      </p:sp>
      <p:sp>
        <p:nvSpPr>
          <p:cNvPr id="15" name="cartao-25"/>
          <p:cNvSpPr/>
          <p:nvPr/>
        </p:nvSpPr>
        <p:spPr>
          <a:xfrm>
            <a:off x="6309360" y="205740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texto-26"/>
          <p:cNvSpPr txBox="1"/>
          <p:nvPr/>
        </p:nvSpPr>
        <p:spPr>
          <a:xfrm>
            <a:off x="6510528" y="222199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Peça do seu jeito</a:t>
            </a:r>
            <a:endParaRPr lang="pt-BR" sz="1600" dirty="0"/>
          </a:p>
        </p:txBody>
      </p:sp>
      <p:sp>
        <p:nvSpPr>
          <p:cNvPr id="17" name="texto-27"/>
          <p:cNvSpPr txBox="1"/>
          <p:nvPr/>
        </p:nvSpPr>
        <p:spPr>
          <a:xfrm>
            <a:off x="6510528" y="2569464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Com uma skill (/processo 2342) ou em português livre: "move o 2342 pra AUDITORIA", "quem pediu o e-mail do 2310?".</a:t>
            </a:r>
            <a:endParaRPr lang="pt-BR" sz="1300" dirty="0"/>
          </a:p>
        </p:txBody>
      </p:sp>
      <p:sp>
        <p:nvSpPr>
          <p:cNvPr id="18" name="cartao-28"/>
          <p:cNvSpPr/>
          <p:nvPr/>
        </p:nvSpPr>
        <p:spPr>
          <a:xfrm>
            <a:off x="6309360" y="347472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texto-29"/>
          <p:cNvSpPr txBox="1"/>
          <p:nvPr/>
        </p:nvSpPr>
        <p:spPr>
          <a:xfrm>
            <a:off x="6510528" y="363931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Respostas curtas</a:t>
            </a:r>
            <a:endParaRPr lang="pt-BR" sz="1600" dirty="0"/>
          </a:p>
        </p:txBody>
      </p:sp>
      <p:sp>
        <p:nvSpPr>
          <p:cNvPr id="20" name="texto-30"/>
          <p:cNvSpPr txBox="1"/>
          <p:nvPr/>
        </p:nvSpPr>
        <p:spPr>
          <a:xfrm>
            <a:off x="6510528" y="3986784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O importante em </a:t>
            </a:r>
            <a:r>
              <a:rPr lang="pt-BR" altLang="en-US" sz="1300" b="1" dirty="0">
                <a:solidFill>
                  <a:schemeClr val="tx1"/>
                </a:solidFill>
              </a:rPr>
              <a:t>negrito</a:t>
            </a:r>
            <a:r>
              <a:rPr lang="pt-BR" altLang="en-US" sz="1300" dirty="0">
                <a:solidFill>
                  <a:schemeClr val="tx1"/>
                </a:solidFill>
              </a:rPr>
              <a:t> (nº, nome, coluna, dias × prazo, o que falta), tabela a partir de 3 cards e uma linha </a:t>
            </a:r>
            <a:r>
              <a:rPr lang="pt-BR" altLang="en-US" sz="1300" b="1" dirty="0">
                <a:solidFill>
                  <a:schemeClr val="tx1"/>
                </a:solidFill>
              </a:rPr>
              <a:t>Próximo:</a:t>
            </a:r>
            <a:r>
              <a:rPr lang="pt-BR" altLang="en-US" sz="1300" dirty="0">
                <a:solidFill>
                  <a:schemeClr val="tx1"/>
                </a:solidFill>
              </a:rPr>
              <a:t> só quando há algo a fazer.</a:t>
            </a:r>
            <a:endParaRPr lang="pt-BR" sz="1300" dirty="0"/>
          </a:p>
        </p:txBody>
      </p:sp>
      <p:sp>
        <p:nvSpPr>
          <p:cNvPr id="21" name="cartao-31"/>
          <p:cNvSpPr/>
          <p:nvPr/>
        </p:nvSpPr>
        <p:spPr>
          <a:xfrm>
            <a:off x="6309360" y="489204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2" name="texto-32"/>
          <p:cNvSpPr txBox="1"/>
          <p:nvPr/>
        </p:nvSpPr>
        <p:spPr>
          <a:xfrm>
            <a:off x="6510528" y="5056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O CRM confere tudo</a:t>
            </a:r>
            <a:endParaRPr lang="pt-BR" sz="1600" dirty="0"/>
          </a:p>
        </p:txBody>
      </p:sp>
      <p:sp>
        <p:nvSpPr>
          <p:cNvPr id="23" name="texto-33"/>
          <p:cNvSpPr txBox="1"/>
          <p:nvPr/>
        </p:nvSpPr>
        <p:spPr>
          <a:xfrm>
            <a:off x="6510528" y="5404104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A IA usa ferramentas do CRM com o crachá (token) de quem pediu. Permissão, regras e registro ficam no servidor — tudo sai como "Fulano (via IA)".</a:t>
            </a:r>
            <a:endParaRPr lang="pt-B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FUNCIONALIDADES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a IA já faz no dia a dia</a:t>
            </a:r>
            <a:endParaRPr lang="en-US" sz="3000" dirty="0"/>
          </a:p>
        </p:txBody>
      </p:sp>
      <p:sp>
        <p:nvSpPr>
          <p:cNvPr id="4" name="cartao-34"/>
          <p:cNvSpPr/>
          <p:nvPr/>
        </p:nvSpPr>
        <p:spPr>
          <a:xfrm>
            <a:off x="548640" y="1417320"/>
            <a:ext cx="3520440" cy="1901952"/>
          </a:xfrm>
          <a:prstGeom prst="roundRect">
            <a:avLst>
              <a:gd name="adj" fmla="val 576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" name="marca-35"/>
          <p:cNvSpPr/>
          <p:nvPr/>
        </p:nvSpPr>
        <p:spPr>
          <a:xfrm>
            <a:off x="749808" y="1636776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o-36"/>
          <p:cNvSpPr txBox="1"/>
          <p:nvPr/>
        </p:nvSpPr>
        <p:spPr>
          <a:xfrm>
            <a:off x="1024128" y="15636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Consultar</a:t>
            </a:r>
            <a:endParaRPr lang="pt-BR" sz="1600" dirty="0"/>
          </a:p>
        </p:txBody>
      </p:sp>
      <p:sp>
        <p:nvSpPr>
          <p:cNvPr id="7" name="texto-37"/>
          <p:cNvSpPr txBox="1"/>
          <p:nvPr/>
        </p:nvSpPr>
        <p:spPr>
          <a:xfrm>
            <a:off x="749808" y="192938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Acha cliente por CPF, nome, telefone ou nº. Panorama do card numa chamada: situação, histórico, documentos, pendências e conversa.</a:t>
            </a:r>
            <a:endParaRPr lang="pt-BR" sz="1250" dirty="0"/>
          </a:p>
        </p:txBody>
      </p:sp>
      <p:sp>
        <p:nvSpPr>
          <p:cNvPr id="8" name="cartao-38"/>
          <p:cNvSpPr/>
          <p:nvPr/>
        </p:nvSpPr>
        <p:spPr>
          <a:xfrm>
            <a:off x="749808" y="2907792"/>
            <a:ext cx="155448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o-39"/>
          <p:cNvSpPr txBox="1"/>
          <p:nvPr/>
        </p:nvSpPr>
        <p:spPr>
          <a:xfrm>
            <a:off x="822960" y="29077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/processo 2342</a:t>
            </a:r>
            <a:endParaRPr lang="pt-BR" sz="1100" dirty="0"/>
          </a:p>
        </p:txBody>
      </p:sp>
      <p:sp>
        <p:nvSpPr>
          <p:cNvPr id="10" name="cartao-40"/>
          <p:cNvSpPr/>
          <p:nvPr/>
        </p:nvSpPr>
        <p:spPr>
          <a:xfrm>
            <a:off x="4334256" y="1417320"/>
            <a:ext cx="3520440" cy="1901952"/>
          </a:xfrm>
          <a:prstGeom prst="roundRect">
            <a:avLst>
              <a:gd name="adj" fmla="val 5769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1" name="marca-41"/>
          <p:cNvSpPr/>
          <p:nvPr/>
        </p:nvSpPr>
        <p:spPr>
          <a:xfrm>
            <a:off x="4535424" y="1636776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o-42"/>
          <p:cNvSpPr txBox="1"/>
          <p:nvPr/>
        </p:nvSpPr>
        <p:spPr>
          <a:xfrm>
            <a:off x="4809744" y="15636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Ler documentos</a:t>
            </a:r>
            <a:endParaRPr lang="pt-BR" sz="1600" dirty="0"/>
          </a:p>
        </p:txBody>
      </p:sp>
      <p:sp>
        <p:nvSpPr>
          <p:cNvPr id="13" name="texto-43"/>
          <p:cNvSpPr txBox="1"/>
          <p:nvPr/>
        </p:nvSpPr>
        <p:spPr>
          <a:xfrm>
            <a:off x="4535424" y="192938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Lê RG, CNH, comprovante e laudo da pasta, diz o que está escrito e aponta o que diverge do cadastro.</a:t>
            </a:r>
            <a:endParaRPr lang="pt-BR" sz="1250" dirty="0"/>
          </a:p>
        </p:txBody>
      </p:sp>
      <p:sp>
        <p:nvSpPr>
          <p:cNvPr id="14" name="cartao-44"/>
          <p:cNvSpPr/>
          <p:nvPr/>
        </p:nvSpPr>
        <p:spPr>
          <a:xfrm>
            <a:off x="4535424" y="2907792"/>
            <a:ext cx="173736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5" name="texto-45"/>
          <p:cNvSpPr txBox="1"/>
          <p:nvPr/>
        </p:nvSpPr>
        <p:spPr>
          <a:xfrm>
            <a:off x="4608576" y="290779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/documentos 2342</a:t>
            </a:r>
            <a:endParaRPr lang="pt-BR" sz="1100" dirty="0"/>
          </a:p>
        </p:txBody>
      </p:sp>
      <p:sp>
        <p:nvSpPr>
          <p:cNvPr id="16" name="cartao-46"/>
          <p:cNvSpPr/>
          <p:nvPr/>
        </p:nvSpPr>
        <p:spPr>
          <a:xfrm>
            <a:off x="8119872" y="1417320"/>
            <a:ext cx="3520440" cy="1901952"/>
          </a:xfrm>
          <a:prstGeom prst="roundRect">
            <a:avLst>
              <a:gd name="adj" fmla="val 576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7" name="marca-47"/>
          <p:cNvSpPr/>
          <p:nvPr/>
        </p:nvSpPr>
        <p:spPr>
          <a:xfrm>
            <a:off x="8321040" y="1636776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exto-48"/>
          <p:cNvSpPr txBox="1"/>
          <p:nvPr/>
        </p:nvSpPr>
        <p:spPr>
          <a:xfrm>
            <a:off x="8595360" y="15636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Preparar documentos</a:t>
            </a:r>
            <a:endParaRPr lang="pt-BR" sz="1600" dirty="0"/>
          </a:p>
        </p:txBody>
      </p:sp>
      <p:sp>
        <p:nvSpPr>
          <p:cNvPr id="19" name="texto-49"/>
          <p:cNvSpPr txBox="1"/>
          <p:nvPr/>
        </p:nvSpPr>
        <p:spPr>
          <a:xfrm>
            <a:off x="8321040" y="192938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Procuração, declaração, pedido de prontuário e KIT em PDF — conferidos antes e anexados na pasta certa.</a:t>
            </a:r>
            <a:endParaRPr lang="pt-BR" sz="1250" dirty="0"/>
          </a:p>
        </p:txBody>
      </p:sp>
      <p:sp>
        <p:nvSpPr>
          <p:cNvPr id="20" name="cartao-50"/>
          <p:cNvSpPr/>
          <p:nvPr/>
        </p:nvSpPr>
        <p:spPr>
          <a:xfrm>
            <a:off x="8321040" y="2907792"/>
            <a:ext cx="173736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1" name="texto-51"/>
          <p:cNvSpPr txBox="1"/>
          <p:nvPr/>
        </p:nvSpPr>
        <p:spPr>
          <a:xfrm>
            <a:off x="8394192" y="290779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/procuracao 2342</a:t>
            </a:r>
            <a:endParaRPr lang="pt-BR" sz="1100" dirty="0"/>
          </a:p>
        </p:txBody>
      </p:sp>
      <p:sp>
        <p:nvSpPr>
          <p:cNvPr id="22" name="cartao-52"/>
          <p:cNvSpPr/>
          <p:nvPr/>
        </p:nvSpPr>
        <p:spPr>
          <a:xfrm>
            <a:off x="548640" y="3520440"/>
            <a:ext cx="3520440" cy="1901952"/>
          </a:xfrm>
          <a:prstGeom prst="roundRect">
            <a:avLst>
              <a:gd name="adj" fmla="val 576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3" name="marca-53"/>
          <p:cNvSpPr/>
          <p:nvPr/>
        </p:nvSpPr>
        <p:spPr>
          <a:xfrm>
            <a:off x="749808" y="373989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o-54"/>
          <p:cNvSpPr txBox="1"/>
          <p:nvPr/>
        </p:nvSpPr>
        <p:spPr>
          <a:xfrm>
            <a:off x="1024128" y="3666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Mexer no kanban</a:t>
            </a:r>
            <a:endParaRPr lang="pt-BR" sz="1600" dirty="0"/>
          </a:p>
        </p:txBody>
      </p:sp>
      <p:sp>
        <p:nvSpPr>
          <p:cNvPr id="25" name="texto-55"/>
          <p:cNvSpPr txBox="1"/>
          <p:nvPr/>
        </p:nvSpPr>
        <p:spPr>
          <a:xfrm>
            <a:off x="749808" y="403250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Mover, marcar tag, comentar, avisar pessoa ou setor, arquivar, editar cadastro, organizar documentos, concluir tarefa.</a:t>
            </a:r>
            <a:endParaRPr lang="pt-BR" sz="1250" dirty="0"/>
          </a:p>
        </p:txBody>
      </p:sp>
      <p:sp>
        <p:nvSpPr>
          <p:cNvPr id="26" name="cartao-56"/>
          <p:cNvSpPr/>
          <p:nvPr/>
        </p:nvSpPr>
        <p:spPr>
          <a:xfrm>
            <a:off x="749808" y="5010912"/>
            <a:ext cx="256032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7" name="texto-57"/>
          <p:cNvSpPr txBox="1"/>
          <p:nvPr/>
        </p:nvSpPr>
        <p:spPr>
          <a:xfrm>
            <a:off x="822960" y="501091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o 2342 pra AUDITORIA</a:t>
            </a:r>
            <a:endParaRPr lang="pt-BR" sz="1100" dirty="0"/>
          </a:p>
        </p:txBody>
      </p:sp>
      <p:sp>
        <p:nvSpPr>
          <p:cNvPr id="28" name="cartao-58"/>
          <p:cNvSpPr/>
          <p:nvPr/>
        </p:nvSpPr>
        <p:spPr>
          <a:xfrm>
            <a:off x="4334256" y="3520440"/>
            <a:ext cx="3520440" cy="1901952"/>
          </a:xfrm>
          <a:prstGeom prst="roundRect">
            <a:avLst>
              <a:gd name="adj" fmla="val 5769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9" name="marca-59"/>
          <p:cNvSpPr/>
          <p:nvPr/>
        </p:nvSpPr>
        <p:spPr>
          <a:xfrm>
            <a:off x="4535424" y="373989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o-60"/>
          <p:cNvSpPr txBox="1"/>
          <p:nvPr/>
        </p:nvSpPr>
        <p:spPr>
          <a:xfrm>
            <a:off x="4809744" y="3666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Enviar para fora</a:t>
            </a:r>
            <a:endParaRPr lang="pt-BR" sz="1600" dirty="0"/>
          </a:p>
        </p:txBody>
      </p:sp>
      <p:sp>
        <p:nvSpPr>
          <p:cNvPr id="31" name="texto-61"/>
          <p:cNvSpPr txBox="1"/>
          <p:nvPr/>
        </p:nvSpPr>
        <p:spPr>
          <a:xfrm>
            <a:off x="4535424" y="403250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E-mail ao hospital com anexos e WhatsApp ao cliente — um ou vários cards — sempre com "aprovo &lt;código&gt;".</a:t>
            </a:r>
            <a:endParaRPr lang="pt-BR" sz="1250" dirty="0"/>
          </a:p>
        </p:txBody>
      </p:sp>
      <p:sp>
        <p:nvSpPr>
          <p:cNvPr id="32" name="cartao-62"/>
          <p:cNvSpPr/>
          <p:nvPr/>
        </p:nvSpPr>
        <p:spPr>
          <a:xfrm>
            <a:off x="4535424" y="5010912"/>
            <a:ext cx="173736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3" name="texto-63"/>
          <p:cNvSpPr txBox="1"/>
          <p:nvPr/>
        </p:nvSpPr>
        <p:spPr>
          <a:xfrm>
            <a:off x="4608576" y="50109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/prontuario 2342</a:t>
            </a:r>
            <a:endParaRPr lang="pt-BR" sz="1100" dirty="0"/>
          </a:p>
        </p:txBody>
      </p:sp>
      <p:sp>
        <p:nvSpPr>
          <p:cNvPr id="34" name="cartao-64"/>
          <p:cNvSpPr/>
          <p:nvPr/>
        </p:nvSpPr>
        <p:spPr>
          <a:xfrm>
            <a:off x="6364224" y="5010912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5" name="texto-65"/>
          <p:cNvSpPr txBox="1"/>
          <p:nvPr/>
        </p:nvSpPr>
        <p:spPr>
          <a:xfrm>
            <a:off x="6437376" y="50109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/whatsapp</a:t>
            </a:r>
            <a:endParaRPr lang="pt-BR" sz="1100" dirty="0"/>
          </a:p>
        </p:txBody>
      </p:sp>
      <p:sp>
        <p:nvSpPr>
          <p:cNvPr id="36" name="cartao-66"/>
          <p:cNvSpPr/>
          <p:nvPr/>
        </p:nvSpPr>
        <p:spPr>
          <a:xfrm>
            <a:off x="8119872" y="3520440"/>
            <a:ext cx="3520440" cy="1901952"/>
          </a:xfrm>
          <a:prstGeom prst="roundRect">
            <a:avLst>
              <a:gd name="adj" fmla="val 576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7" name="marca-67"/>
          <p:cNvSpPr/>
          <p:nvPr/>
        </p:nvSpPr>
        <p:spPr>
          <a:xfrm>
            <a:off x="8321040" y="373989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o-68"/>
          <p:cNvSpPr txBox="1"/>
          <p:nvPr/>
        </p:nvSpPr>
        <p:spPr>
          <a:xfrm>
            <a:off x="8595360" y="3666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Organizar e acompanhar</a:t>
            </a:r>
            <a:endParaRPr lang="pt-BR" sz="1600" dirty="0"/>
          </a:p>
        </p:txBody>
      </p:sp>
      <p:sp>
        <p:nvSpPr>
          <p:cNvPr id="39" name="texto-69"/>
          <p:cNvSpPr txBox="1"/>
          <p:nvPr/>
        </p:nvSpPr>
        <p:spPr>
          <a:xfrm>
            <a:off x="8321040" y="403250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Plano do dia, cards parados, caça a problemas (CPF errado, duplicados), rendimento e auditoria.</a:t>
            </a:r>
            <a:endParaRPr lang="pt-BR" sz="1250" dirty="0"/>
          </a:p>
        </p:txBody>
      </p:sp>
      <p:sp>
        <p:nvSpPr>
          <p:cNvPr id="40" name="cartao-70"/>
          <p:cNvSpPr/>
          <p:nvPr/>
        </p:nvSpPr>
        <p:spPr>
          <a:xfrm>
            <a:off x="8321040" y="5010912"/>
            <a:ext cx="100584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1" name="texto-71"/>
          <p:cNvSpPr txBox="1"/>
          <p:nvPr/>
        </p:nvSpPr>
        <p:spPr>
          <a:xfrm>
            <a:off x="8394192" y="501091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/meu-dia</a:t>
            </a:r>
            <a:endParaRPr lang="pt-BR" sz="1100" dirty="0"/>
          </a:p>
        </p:txBody>
      </p:sp>
      <p:sp>
        <p:nvSpPr>
          <p:cNvPr id="42" name="cartao-72"/>
          <p:cNvSpPr/>
          <p:nvPr/>
        </p:nvSpPr>
        <p:spPr>
          <a:xfrm>
            <a:off x="9418320" y="5010912"/>
            <a:ext cx="1188720" cy="274320"/>
          </a:xfrm>
          <a:prstGeom prst="roundRect">
            <a:avLst>
              <a:gd name="adj" fmla="val 4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3" name="texto-73"/>
          <p:cNvSpPr txBox="1"/>
          <p:nvPr/>
        </p:nvSpPr>
        <p:spPr>
          <a:xfrm>
            <a:off x="9491472" y="5010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/varredura</a:t>
            </a:r>
            <a:endParaRPr lang="pt-BR" sz="1100" dirty="0"/>
          </a:p>
        </p:txBody>
      </p:sp>
      <p:sp>
        <p:nvSpPr>
          <p:cNvPr id="44" name="cartao-7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45" name="texto-75"/>
          <p:cNvSpPr txBox="1"/>
          <p:nvPr/>
        </p:nvSpPr>
        <p:spPr>
          <a:xfrm>
            <a:off x="777240" y="5623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chemeClr val="accent3"/>
                </a:solidFill>
              </a:rPr>
              <a:t>Um card ou vários</a:t>
            </a:r>
            <a:endParaRPr lang="pt-BR" sz="1500" dirty="0"/>
          </a:p>
        </p:txBody>
      </p:sp>
      <p:sp>
        <p:nvSpPr>
          <p:cNvPr id="46" name="texto-76"/>
          <p:cNvSpPr txBox="1"/>
          <p:nvPr/>
        </p:nvSpPr>
        <p:spPr>
          <a:xfrm>
            <a:off x="2834640" y="56235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200" b="1" dirty="0">
                <a:solidFill>
                  <a:schemeClr val="bg1"/>
                </a:solidFill>
              </a:rPr>
              <a:t>50  </a:t>
            </a:r>
            <a:r>
              <a:rPr lang="pt-BR" altLang="en-US" sz="1150" dirty="0">
                <a:solidFill>
                  <a:schemeClr val="bg1"/>
                </a:solidFill>
              </a:rPr>
              <a:t>cards conferidos numa chamada</a:t>
            </a:r>
            <a:endParaRPr lang="pt-BR" sz="1400" dirty="0"/>
          </a:p>
        </p:txBody>
      </p:sp>
      <p:sp>
        <p:nvSpPr>
          <p:cNvPr id="47" name="texto-77"/>
          <p:cNvSpPr txBox="1"/>
          <p:nvPr/>
        </p:nvSpPr>
        <p:spPr>
          <a:xfrm>
            <a:off x="5029200" y="56235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200" b="1" dirty="0">
                <a:solidFill>
                  <a:schemeClr val="bg1"/>
                </a:solidFill>
              </a:rPr>
              <a:t>20  </a:t>
            </a:r>
            <a:r>
              <a:rPr lang="pt-BR" altLang="en-US" sz="1150" dirty="0">
                <a:solidFill>
                  <a:schemeClr val="bg1"/>
                </a:solidFill>
              </a:rPr>
              <a:t>WhatsApps com um código</a:t>
            </a:r>
            <a:endParaRPr lang="pt-BR" sz="1400" dirty="0"/>
          </a:p>
        </p:txBody>
      </p:sp>
      <p:sp>
        <p:nvSpPr>
          <p:cNvPr id="48" name="texto-78"/>
          <p:cNvSpPr txBox="1"/>
          <p:nvPr/>
        </p:nvSpPr>
        <p:spPr>
          <a:xfrm>
            <a:off x="7223760" y="56235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200" b="1" dirty="0">
                <a:solidFill>
                  <a:schemeClr val="bg1"/>
                </a:solidFill>
              </a:rPr>
              <a:t>10  </a:t>
            </a:r>
            <a:r>
              <a:rPr lang="pt-BR" altLang="en-US" sz="1150" dirty="0">
                <a:solidFill>
                  <a:schemeClr val="bg1"/>
                </a:solidFill>
              </a:rPr>
              <a:t>e-mails ou anexos de uma vez</a:t>
            </a:r>
            <a:endParaRPr lang="pt-BR" sz="1400" dirty="0"/>
          </a:p>
        </p:txBody>
      </p:sp>
      <p:sp>
        <p:nvSpPr>
          <p:cNvPr id="49" name="texto-79"/>
          <p:cNvSpPr txBox="1"/>
          <p:nvPr/>
        </p:nvSpPr>
        <p:spPr>
          <a:xfrm>
            <a:off x="9418320" y="56235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200" b="1" dirty="0">
                <a:solidFill>
                  <a:schemeClr val="bg1"/>
                </a:solidFill>
              </a:rPr>
              <a:t>4+  </a:t>
            </a:r>
            <a:r>
              <a:rPr lang="pt-BR" altLang="en-US" sz="1150" dirty="0">
                <a:solidFill>
                  <a:schemeClr val="bg1"/>
                </a:solidFill>
              </a:rPr>
              <a:t>cards → segundo plano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ATALHOS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19 skills: </a:t>
            </a:r>
            <a:r>
              <a:rPr lang="en-US" sz="3000" b="1" dirty="0">
                <a:solidFill>
                  <a:schemeClr val="accent2"/>
                </a:solidFill>
              </a:rPr>
              <a:t>receitas prontas para cada tarefa</a:t>
            </a:r>
            <a:endParaRPr lang="en-US" sz="3000" dirty="0"/>
          </a:p>
        </p:txBody>
      </p:sp>
      <p:sp>
        <p:nvSpPr>
          <p:cNvPr id="4" name="texto-80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500" dirty="0">
                <a:solidFill>
                  <a:schemeClr val="tx2"/>
                </a:solidFill>
              </a:rPr>
              <a:t>Cada skill é um roteiro escrito com os passos e as ferramentas certas. Sem skill, a /crm atende qualquer pedido avulso.</a:t>
            </a:r>
            <a:endParaRPr lang="pt-BR" sz="1500" dirty="0"/>
          </a:p>
        </p:txBody>
      </p:sp>
      <p:sp>
        <p:nvSpPr>
          <p:cNvPr id="5" name="cartao-81"/>
          <p:cNvSpPr/>
          <p:nvPr/>
        </p:nvSpPr>
        <p:spPr>
          <a:xfrm>
            <a:off x="548640" y="1920240"/>
            <a:ext cx="2624328" cy="3337560"/>
          </a:xfrm>
          <a:prstGeom prst="roundRect">
            <a:avLst>
              <a:gd name="adj" fmla="val 4181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6" name="texto-82"/>
          <p:cNvSpPr txBox="1"/>
          <p:nvPr/>
        </p:nvSpPr>
        <p:spPr>
          <a:xfrm>
            <a:off x="731520" y="20574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4"/>
                </a:solidFill>
              </a:rPr>
              <a:t>Consultar</a:t>
            </a:r>
            <a:endParaRPr lang="pt-BR" sz="1600" dirty="0"/>
          </a:p>
        </p:txBody>
      </p:sp>
      <p:sp>
        <p:nvSpPr>
          <p:cNvPr id="7" name="lista-83"/>
          <p:cNvSpPr txBox="1"/>
          <p:nvPr/>
        </p:nvSpPr>
        <p:spPr>
          <a:xfrm>
            <a:off x="731520" y="246888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/cliente</a:t>
            </a:r>
            <a:r>
              <a:rPr lang="pt-BR" altLang="en-US" sz="1300" dirty="0">
                <a:solidFill>
                  <a:schemeClr val="tx1"/>
                </a:solidFill>
              </a:rPr>
              <a:t> — acha o cliente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/processo</a:t>
            </a:r>
            <a:r>
              <a:rPr lang="pt-BR" altLang="en-US" sz="1300" dirty="0">
                <a:solidFill>
                  <a:schemeClr val="tx1"/>
                </a:solidFill>
              </a:rPr>
              <a:t> — panorama do card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/pendencias</a:t>
            </a:r>
            <a:r>
              <a:rPr lang="pt-BR" altLang="en-US" sz="1300" dirty="0">
                <a:solidFill>
                  <a:schemeClr val="tx1"/>
                </a:solidFill>
              </a:rPr>
              <a:t> — o que falta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/hospital</a:t>
            </a:r>
            <a:r>
              <a:rPr lang="pt-BR" altLang="en-US" sz="1300" dirty="0">
                <a:solidFill>
                  <a:schemeClr val="tx1"/>
                </a:solidFill>
              </a:rPr>
              <a:t> — como pedir o prontuário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/crm</a:t>
            </a:r>
            <a:r>
              <a:rPr lang="pt-BR" altLang="en-US" sz="1300" dirty="0">
                <a:solidFill>
                  <a:schemeClr val="tx1"/>
                </a:solidFill>
              </a:rPr>
              <a:t> — qualquer pedido</a:t>
            </a:r>
            <a:endParaRPr lang="pt-BR" sz="1300" dirty="0"/>
          </a:p>
        </p:txBody>
      </p:sp>
      <p:sp>
        <p:nvSpPr>
          <p:cNvPr id="8" name="cartao-84"/>
          <p:cNvSpPr/>
          <p:nvPr/>
        </p:nvSpPr>
        <p:spPr>
          <a:xfrm>
            <a:off x="3374136" y="1920240"/>
            <a:ext cx="2624328" cy="3337560"/>
          </a:xfrm>
          <a:prstGeom prst="roundRect">
            <a:avLst>
              <a:gd name="adj" fmla="val 4181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9" name="texto-85"/>
          <p:cNvSpPr txBox="1"/>
          <p:nvPr/>
        </p:nvSpPr>
        <p:spPr>
          <a:xfrm>
            <a:off x="3557016" y="20574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5"/>
                </a:solidFill>
              </a:rPr>
              <a:t>Documentos</a:t>
            </a:r>
            <a:endParaRPr lang="pt-BR" sz="1600" dirty="0"/>
          </a:p>
        </p:txBody>
      </p:sp>
      <p:sp>
        <p:nvSpPr>
          <p:cNvPr id="10" name="lista-86"/>
          <p:cNvSpPr txBox="1"/>
          <p:nvPr/>
        </p:nvSpPr>
        <p:spPr>
          <a:xfrm>
            <a:off x="3557016" y="246888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/documentos</a:t>
            </a:r>
            <a:r>
              <a:rPr lang="pt-BR" altLang="en-US" sz="1300" dirty="0">
                <a:solidFill>
                  <a:schemeClr val="tx1"/>
                </a:solidFill>
              </a:rPr>
              <a:t> — lê e confere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/procuracao</a:t>
            </a:r>
            <a:r>
              <a:rPr lang="pt-BR" altLang="en-US" sz="1300" dirty="0">
                <a:solidFill>
                  <a:schemeClr val="tx1"/>
                </a:solidFill>
              </a:rPr>
              <a:t> — procuração e declaração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/pedido-prontuario</a:t>
            </a:r>
            <a:r>
              <a:rPr lang="pt-BR" altLang="en-US" sz="1300" dirty="0">
                <a:solidFill>
                  <a:schemeClr val="tx1"/>
                </a:solidFill>
              </a:rPr>
              <a:t> — pedido hospitalar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/contrato</a:t>
            </a:r>
            <a:r>
              <a:rPr lang="pt-BR" altLang="en-US" sz="1300" dirty="0">
                <a:solidFill>
                  <a:schemeClr val="tx1"/>
                </a:solidFill>
              </a:rPr>
              <a:t> — KIT + ZapSign</a:t>
            </a:r>
            <a:endParaRPr lang="pt-BR" sz="1300" dirty="0"/>
          </a:p>
        </p:txBody>
      </p:sp>
      <p:sp>
        <p:nvSpPr>
          <p:cNvPr id="11" name="cartao-87"/>
          <p:cNvSpPr/>
          <p:nvPr/>
        </p:nvSpPr>
        <p:spPr>
          <a:xfrm>
            <a:off x="6199632" y="1920240"/>
            <a:ext cx="2624328" cy="3337560"/>
          </a:xfrm>
          <a:prstGeom prst="roundRect">
            <a:avLst>
              <a:gd name="adj" fmla="val 418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2" name="texto-88"/>
          <p:cNvSpPr txBox="1"/>
          <p:nvPr/>
        </p:nvSpPr>
        <p:spPr>
          <a:xfrm>
            <a:off x="6382512" y="20574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2"/>
                </a:solidFill>
              </a:rPr>
              <a:t>Envios e fluxos</a:t>
            </a:r>
            <a:endParaRPr lang="pt-BR" sz="1600" dirty="0"/>
          </a:p>
        </p:txBody>
      </p:sp>
      <p:sp>
        <p:nvSpPr>
          <p:cNvPr id="13" name="lista-89"/>
          <p:cNvSpPr txBox="1"/>
          <p:nvPr/>
        </p:nvSpPr>
        <p:spPr>
          <a:xfrm>
            <a:off x="6382512" y="246888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/prontuario</a:t>
            </a:r>
            <a:r>
              <a:rPr lang="pt-BR" altLang="en-US" sz="1300" dirty="0">
                <a:solidFill>
                  <a:schemeClr val="tx1"/>
                </a:solidFill>
              </a:rPr>
              <a:t> — pedido ao hospital, de ponta a ponta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/whatsapp</a:t>
            </a:r>
            <a:r>
              <a:rPr lang="pt-BR" altLang="en-US" sz="1300" dirty="0">
                <a:solidFill>
                  <a:schemeClr val="tx1"/>
                </a:solidFill>
              </a:rPr>
              <a:t> — mensagem a 1 ou N cards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/retomar</a:t>
            </a:r>
            <a:r>
              <a:rPr lang="pt-BR" altLang="en-US" sz="1300" dirty="0">
                <a:solidFill>
                  <a:schemeClr val="tx1"/>
                </a:solidFill>
              </a:rPr>
              <a:t> — continua o que parou</a:t>
            </a:r>
            <a:endParaRPr lang="pt-BR" sz="1300" dirty="0"/>
          </a:p>
        </p:txBody>
      </p:sp>
      <p:sp>
        <p:nvSpPr>
          <p:cNvPr id="14" name="cartao-90"/>
          <p:cNvSpPr/>
          <p:nvPr/>
        </p:nvSpPr>
        <p:spPr>
          <a:xfrm>
            <a:off x="9025128" y="1920240"/>
            <a:ext cx="2624328" cy="3337560"/>
          </a:xfrm>
          <a:prstGeom prst="roundRect">
            <a:avLst>
              <a:gd name="adj" fmla="val 418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5" name="texto-91"/>
          <p:cNvSpPr txBox="1"/>
          <p:nvPr/>
        </p:nvSpPr>
        <p:spPr>
          <a:xfrm>
            <a:off x="9208008" y="20574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1"/>
                </a:solidFill>
              </a:rPr>
              <a:t>Dia e gestão</a:t>
            </a:r>
            <a:endParaRPr lang="pt-BR" sz="1600" dirty="0"/>
          </a:p>
        </p:txBody>
      </p:sp>
      <p:sp>
        <p:nvSpPr>
          <p:cNvPr id="16" name="lista-92"/>
          <p:cNvSpPr txBox="1"/>
          <p:nvPr/>
        </p:nvSpPr>
        <p:spPr>
          <a:xfrm>
            <a:off x="9208008" y="2468880"/>
            <a:ext cx="2304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/meu-dia</a:t>
            </a:r>
            <a:r>
              <a:rPr lang="pt-BR" altLang="en-US" sz="1300" dirty="0">
                <a:solidFill>
                  <a:schemeClr val="tx1"/>
                </a:solidFill>
              </a:rPr>
              <a:t> — plano do dia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/parados</a:t>
            </a:r>
            <a:r>
              <a:rPr lang="pt-BR" altLang="en-US" sz="1300" dirty="0">
                <a:solidFill>
                  <a:schemeClr val="tx1"/>
                </a:solidFill>
              </a:rPr>
              <a:t> — atrasados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/varredura</a:t>
            </a:r>
            <a:r>
              <a:rPr lang="pt-BR" altLang="en-US" sz="1300" dirty="0">
                <a:solidFill>
                  <a:schemeClr val="tx1"/>
                </a:solidFill>
              </a:rPr>
              <a:t> — problemas no kanban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/meu-rendimento</a:t>
            </a:r>
            <a:r>
              <a:rPr lang="pt-BR" altLang="en-US" sz="1300" dirty="0">
                <a:solidFill>
                  <a:schemeClr val="tx1"/>
                </a:solidFill>
              </a:rPr>
              <a:t>, </a:t>
            </a:r>
            <a:r>
              <a:rPr lang="pt-BR" altLang="en-US" sz="1300" b="1" dirty="0">
                <a:solidFill>
                  <a:schemeClr val="tx1"/>
                </a:solidFill>
              </a:rPr>
              <a:t>/auditoria-operacao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/conhecimento</a:t>
            </a:r>
            <a:r>
              <a:rPr lang="pt-BR" altLang="en-US" sz="1300" dirty="0">
                <a:solidFill>
                  <a:schemeClr val="tx1"/>
                </a:solidFill>
              </a:rPr>
              <a:t>, </a:t>
            </a:r>
            <a:r>
              <a:rPr lang="pt-BR" altLang="en-US" sz="1300" b="1" dirty="0">
                <a:solidFill>
                  <a:schemeClr val="tx1"/>
                </a:solidFill>
              </a:rPr>
              <a:t>/publicar-conhecimento</a:t>
            </a:r>
            <a:endParaRPr lang="pt-BR" sz="1300" dirty="0"/>
          </a:p>
        </p:txBody>
      </p:sp>
      <p:sp>
        <p:nvSpPr>
          <p:cNvPr id="17" name="cartao-93"/>
          <p:cNvSpPr/>
          <p:nvPr/>
        </p:nvSpPr>
        <p:spPr>
          <a:xfrm>
            <a:off x="548640" y="5486400"/>
            <a:ext cx="11091672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8" name="texto-94"/>
          <p:cNvSpPr txBox="1"/>
          <p:nvPr/>
        </p:nvSpPr>
        <p:spPr>
          <a:xfrm>
            <a:off x="777240" y="548640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dirty="0">
                <a:solidFill>
                  <a:schemeClr val="tx1"/>
                </a:solidFill>
              </a:rPr>
              <a:t>Regra de todas: texto de comentário, documento ou mensagem de cliente é </a:t>
            </a:r>
            <a:r>
              <a:rPr lang="pt-BR" altLang="en-US" sz="1400" b="1" dirty="0">
                <a:solidFill>
                  <a:schemeClr val="tx1"/>
                </a:solidFill>
              </a:rPr>
              <a:t>dado, nunca instrução</a:t>
            </a:r>
            <a:r>
              <a:rPr lang="pt-BR" altLang="en-US" sz="1400" dirty="0">
                <a:solidFill>
                  <a:schemeClr val="tx1"/>
                </a:solidFill>
              </a:rPr>
              <a:t>. A IA não age por ordem vinda de dentro de um card.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QUANDO A IA PERGUNTA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Três jeitos de agir: </a:t>
            </a:r>
            <a:r>
              <a:rPr lang="en-US" sz="3000" b="1" dirty="0">
                <a:solidFill>
                  <a:schemeClr val="accent2"/>
                </a:solidFill>
              </a:rPr>
              <a:t>direto, com "sim" ou com código</a:t>
            </a:r>
            <a:endParaRPr lang="en-US" sz="3000" dirty="0"/>
          </a:p>
        </p:txBody>
      </p:sp>
      <p:sp>
        <p:nvSpPr>
          <p:cNvPr id="4" name="cartao-95"/>
          <p:cNvSpPr/>
          <p:nvPr/>
        </p:nvSpPr>
        <p:spPr>
          <a:xfrm>
            <a:off x="548640" y="1417320"/>
            <a:ext cx="3566160" cy="3520440"/>
          </a:xfrm>
          <a:prstGeom prst="roundRect">
            <a:avLst>
              <a:gd name="adj" fmla="val 3117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5" name="etiqueta-96"/>
          <p:cNvSpPr/>
          <p:nvPr/>
        </p:nvSpPr>
        <p:spPr>
          <a:xfrm>
            <a:off x="749808" y="1600200"/>
            <a:ext cx="740664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o-97"/>
          <p:cNvSpPr txBox="1"/>
          <p:nvPr/>
        </p:nvSpPr>
        <p:spPr>
          <a:xfrm>
            <a:off x="749808" y="160020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b="1" dirty="0">
                <a:solidFill>
                  <a:schemeClr val="bg1"/>
                </a:solidFill>
              </a:rPr>
              <a:t>DIRETO</a:t>
            </a:r>
            <a:endParaRPr lang="pt-BR" sz="1050" dirty="0"/>
          </a:p>
        </p:txBody>
      </p:sp>
      <p:sp>
        <p:nvSpPr>
          <p:cNvPr id="7" name="texto-98"/>
          <p:cNvSpPr txBox="1"/>
          <p:nvPr/>
        </p:nvSpPr>
        <p:spPr>
          <a:xfrm>
            <a:off x="749808" y="196596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Faz na hora</a:t>
            </a:r>
            <a:endParaRPr lang="pt-BR" sz="1600" dirty="0"/>
          </a:p>
        </p:txBody>
      </p:sp>
      <p:sp>
        <p:nvSpPr>
          <p:cNvPr id="8" name="texto-99"/>
          <p:cNvSpPr txBox="1"/>
          <p:nvPr/>
        </p:nvSpPr>
        <p:spPr>
          <a:xfrm>
            <a:off x="749808" y="228600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dirty="0">
                <a:solidFill>
                  <a:schemeClr val="tx2"/>
                </a:solidFill>
              </a:rPr>
              <a:t>Consultas, rascunhos de documento e as ações internas do dia a dia:</a:t>
            </a:r>
            <a:endParaRPr lang="pt-BR" sz="1200" dirty="0"/>
          </a:p>
        </p:txBody>
      </p:sp>
      <p:sp>
        <p:nvSpPr>
          <p:cNvPr id="9" name="lista-100"/>
          <p:cNvSpPr txBox="1"/>
          <p:nvPr/>
        </p:nvSpPr>
        <p:spPr>
          <a:xfrm>
            <a:off x="749808" y="2724912"/>
            <a:ext cx="3163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marcar/tirar tag, comentar, avisar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mover (coluna sem WhatsApp)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preencher campo </a:t>
            </a:r>
            <a:r>
              <a:rPr lang="pt-BR" altLang="en-US" sz="1300" b="1" dirty="0">
                <a:solidFill>
                  <a:schemeClr val="tx1"/>
                </a:solidFill>
              </a:rPr>
              <a:t>vazio</a:t>
            </a:r>
            <a:r>
              <a:rPr lang="pt-BR" altLang="en-US" sz="1300" dirty="0">
                <a:solidFill>
                  <a:schemeClr val="tx1"/>
                </a:solidFill>
              </a:rPr>
              <a:t> do cadastro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anexar procuração/pedido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renomear, mudar de pasta, restaurar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arquivar sem encerrar</a:t>
            </a:r>
            <a:endParaRPr lang="pt-BR" sz="1300" dirty="0"/>
          </a:p>
        </p:txBody>
      </p:sp>
      <p:sp>
        <p:nvSpPr>
          <p:cNvPr id="10" name="cartao-101"/>
          <p:cNvSpPr/>
          <p:nvPr/>
        </p:nvSpPr>
        <p:spPr>
          <a:xfrm>
            <a:off x="4311396" y="1417320"/>
            <a:ext cx="3566160" cy="3520440"/>
          </a:xfrm>
          <a:prstGeom prst="roundRect">
            <a:avLst>
              <a:gd name="adj" fmla="val 3117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11" name="etiqueta-102"/>
          <p:cNvSpPr/>
          <p:nvPr/>
        </p:nvSpPr>
        <p:spPr>
          <a:xfrm>
            <a:off x="4512564" y="1600200"/>
            <a:ext cx="1362456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exto-103"/>
          <p:cNvSpPr txBox="1"/>
          <p:nvPr/>
        </p:nvSpPr>
        <p:spPr>
          <a:xfrm>
            <a:off x="4512564" y="160020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b="1" dirty="0">
                <a:solidFill>
                  <a:schemeClr val="bg1"/>
                </a:solidFill>
              </a:rPr>
              <a:t>PRÉVIA + "SIM"</a:t>
            </a:r>
            <a:endParaRPr lang="pt-BR" sz="1050" dirty="0"/>
          </a:p>
        </p:txBody>
      </p:sp>
      <p:sp>
        <p:nvSpPr>
          <p:cNvPr id="13" name="texto-104"/>
          <p:cNvSpPr txBox="1"/>
          <p:nvPr/>
        </p:nvSpPr>
        <p:spPr>
          <a:xfrm>
            <a:off x="4512564" y="196596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Mostra antes e pergunta</a:t>
            </a:r>
            <a:endParaRPr lang="pt-BR" sz="1600" dirty="0"/>
          </a:p>
        </p:txBody>
      </p:sp>
      <p:sp>
        <p:nvSpPr>
          <p:cNvPr id="14" name="texto-105"/>
          <p:cNvSpPr txBox="1"/>
          <p:nvPr/>
        </p:nvSpPr>
        <p:spPr>
          <a:xfrm>
            <a:off x="4512564" y="228600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dirty="0">
                <a:solidFill>
                  <a:schemeClr val="tx2"/>
                </a:solidFill>
              </a:rPr>
              <a:t>Só em 4 casos, decididos pelo servidor:</a:t>
            </a:r>
            <a:endParaRPr lang="pt-BR" sz="1200" dirty="0"/>
          </a:p>
        </p:txBody>
      </p:sp>
      <p:sp>
        <p:nvSpPr>
          <p:cNvPr id="15" name="lista-106"/>
          <p:cNvSpPr txBox="1"/>
          <p:nvPr/>
        </p:nvSpPr>
        <p:spPr>
          <a:xfrm>
            <a:off x="4512564" y="272491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mover para coluna que </a:t>
            </a:r>
            <a:r>
              <a:rPr lang="pt-BR" altLang="en-US" sz="1300" b="1" dirty="0">
                <a:solidFill>
                  <a:schemeClr val="tx1"/>
                </a:solidFill>
              </a:rPr>
              <a:t>manda WhatsApp</a:t>
            </a:r>
            <a:r>
              <a:rPr lang="pt-BR" altLang="en-US" sz="1300" dirty="0">
                <a:solidFill>
                  <a:schemeClr val="tx1"/>
                </a:solidFill>
              </a:rPr>
              <a:t> ao cliente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anexar </a:t>
            </a:r>
            <a:r>
              <a:rPr lang="pt-BR" altLang="en-US" sz="1300" b="1" dirty="0">
                <a:solidFill>
                  <a:schemeClr val="tx1"/>
                </a:solidFill>
              </a:rPr>
              <a:t>contrato / KIT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mandar documento para a </a:t>
            </a:r>
            <a:r>
              <a:rPr lang="pt-BR" altLang="en-US" sz="1300" b="1" dirty="0">
                <a:solidFill>
                  <a:schemeClr val="tx1"/>
                </a:solidFill>
              </a:rPr>
              <a:t>lixeira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b="1" dirty="0">
                <a:solidFill>
                  <a:schemeClr val="tx1"/>
                </a:solidFill>
              </a:rPr>
              <a:t>trocar</a:t>
            </a:r>
            <a:r>
              <a:rPr lang="pt-BR" altLang="en-US" sz="1300" dirty="0">
                <a:solidFill>
                  <a:schemeClr val="tx1"/>
                </a:solidFill>
              </a:rPr>
              <a:t> campo já preenchido (antes → depois)</a:t>
            </a:r>
            <a:endParaRPr lang="pt-BR" sz="1300" dirty="0"/>
          </a:p>
        </p:txBody>
      </p:sp>
      <p:sp>
        <p:nvSpPr>
          <p:cNvPr id="16" name="texto-107"/>
          <p:cNvSpPr txBox="1"/>
          <p:nvPr/>
        </p:nvSpPr>
        <p:spPr>
          <a:xfrm>
            <a:off x="4512564" y="422452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00" dirty="0">
                <a:solidFill>
                  <a:schemeClr val="tx2"/>
                </a:solidFill>
              </a:rPr>
              <a:t>Se o card mudou entre a prévia e o "sim", mostra a nova prévia.</a:t>
            </a:r>
            <a:endParaRPr lang="pt-BR" sz="1100" dirty="0"/>
          </a:p>
        </p:txBody>
      </p:sp>
      <p:sp>
        <p:nvSpPr>
          <p:cNvPr id="17" name="cartao-108"/>
          <p:cNvSpPr/>
          <p:nvPr/>
        </p:nvSpPr>
        <p:spPr>
          <a:xfrm>
            <a:off x="8074152" y="1417320"/>
            <a:ext cx="3566160" cy="3520440"/>
          </a:xfrm>
          <a:prstGeom prst="roundRect">
            <a:avLst>
              <a:gd name="adj" fmla="val 3117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18" name="etiqueta-109"/>
          <p:cNvSpPr/>
          <p:nvPr/>
        </p:nvSpPr>
        <p:spPr>
          <a:xfrm>
            <a:off x="8275320" y="1600200"/>
            <a:ext cx="1595628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9" name="texto-110"/>
          <p:cNvSpPr txBox="1"/>
          <p:nvPr/>
        </p:nvSpPr>
        <p:spPr>
          <a:xfrm>
            <a:off x="8275320" y="160020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b="1" dirty="0">
                <a:solidFill>
                  <a:schemeClr val="bg1"/>
                </a:solidFill>
              </a:rPr>
              <a:t>"APROVO &lt;CÓDIGO&gt;"</a:t>
            </a:r>
            <a:endParaRPr lang="pt-BR" sz="1050" dirty="0"/>
          </a:p>
        </p:txBody>
      </p:sp>
      <p:sp>
        <p:nvSpPr>
          <p:cNvPr id="20" name="texto-111"/>
          <p:cNvSpPr txBox="1"/>
          <p:nvPr/>
        </p:nvSpPr>
        <p:spPr>
          <a:xfrm>
            <a:off x="8275320" y="196596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Só com o código digitado</a:t>
            </a:r>
            <a:endParaRPr lang="pt-BR" sz="1600" dirty="0"/>
          </a:p>
        </p:txBody>
      </p:sp>
      <p:sp>
        <p:nvSpPr>
          <p:cNvPr id="21" name="texto-112"/>
          <p:cNvSpPr txBox="1"/>
          <p:nvPr/>
        </p:nvSpPr>
        <p:spPr>
          <a:xfrm>
            <a:off x="8275320" y="228600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dirty="0">
                <a:solidFill>
                  <a:schemeClr val="tx2"/>
                </a:solidFill>
              </a:rPr>
              <a:t>Tudo que sai do escritório ou não tem volta:</a:t>
            </a:r>
            <a:endParaRPr lang="pt-BR" sz="1200" dirty="0"/>
          </a:p>
        </p:txBody>
      </p:sp>
      <p:sp>
        <p:nvSpPr>
          <p:cNvPr id="22" name="lista-113"/>
          <p:cNvSpPr txBox="1"/>
          <p:nvPr/>
        </p:nvSpPr>
        <p:spPr>
          <a:xfrm>
            <a:off x="8275320" y="272491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e-mail (hospital ou outro)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WhatsApp ao cliente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excluir card / arquivar encerrando</a:t>
            </a:r>
            <a:endParaRPr lang="pt-BR" sz="1300" dirty="0"/>
          </a:p>
        </p:txBody>
      </p:sp>
      <p:sp>
        <p:nvSpPr>
          <p:cNvPr id="23" name="texto-114"/>
          <p:cNvSpPr txBox="1"/>
          <p:nvPr/>
        </p:nvSpPr>
        <p:spPr>
          <a:xfrm>
            <a:off x="8275320" y="422452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00" dirty="0">
                <a:solidFill>
                  <a:schemeClr val="tx2"/>
                </a:solidFill>
              </a:rPr>
              <a:t>O servidor confere: mesma pessoa e conversa, última mensagem é o código, conteúdo igual ao da prévia, menos de 30 min. Um código vale para o lote.</a:t>
            </a:r>
            <a:endParaRPr lang="pt-BR" sz="1100" dirty="0"/>
          </a:p>
        </p:txBody>
      </p:sp>
      <p:sp>
        <p:nvSpPr>
          <p:cNvPr id="24" name="cartao-115"/>
          <p:cNvSpPr/>
          <p:nvPr/>
        </p:nvSpPr>
        <p:spPr>
          <a:xfrm>
            <a:off x="548640" y="507492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25" name="cartao-116"/>
          <p:cNvSpPr/>
          <p:nvPr/>
        </p:nvSpPr>
        <p:spPr>
          <a:xfrm>
            <a:off x="1371600" y="5148072"/>
            <a:ext cx="2606040" cy="347472"/>
          </a:xfrm>
          <a:prstGeom prst="roundRect">
            <a:avLst>
              <a:gd name="adj" fmla="val 31579"/>
            </a:avLst>
          </a:prstGeom>
          <a:solidFill>
            <a:schemeClr val="accent1"/>
          </a:solidFill>
          <a:ln/>
        </p:spPr>
      </p:sp>
      <p:sp>
        <p:nvSpPr>
          <p:cNvPr id="26" name="texto-117"/>
          <p:cNvSpPr txBox="1"/>
          <p:nvPr/>
        </p:nvSpPr>
        <p:spPr>
          <a:xfrm>
            <a:off x="1508760" y="52212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marca a tag COBRADO no 2342</a:t>
            </a:r>
            <a:endParaRPr lang="pt-BR" sz="1250" dirty="0"/>
          </a:p>
        </p:txBody>
      </p:sp>
      <p:sp>
        <p:nvSpPr>
          <p:cNvPr id="27" name="cartao-118"/>
          <p:cNvSpPr/>
          <p:nvPr/>
        </p:nvSpPr>
        <p:spPr>
          <a:xfrm>
            <a:off x="685800" y="5541264"/>
            <a:ext cx="310896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28" name="texto-119"/>
          <p:cNvSpPr txBox="1"/>
          <p:nvPr/>
        </p:nvSpPr>
        <p:spPr>
          <a:xfrm>
            <a:off x="822960" y="56144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✔ Tag </a:t>
            </a:r>
            <a:r>
              <a:rPr lang="pt-BR" altLang="en-US" sz="1250" b="1" dirty="0">
                <a:solidFill>
                  <a:schemeClr val="tx1"/>
                </a:solidFill>
              </a:rPr>
              <a:t>COBRADO</a:t>
            </a:r>
            <a:r>
              <a:rPr lang="pt-BR" altLang="en-US" sz="1250" dirty="0">
                <a:solidFill>
                  <a:schemeClr val="tx1"/>
                </a:solidFill>
              </a:rPr>
              <a:t> no </a:t>
            </a:r>
            <a:r>
              <a:rPr lang="pt-BR" altLang="en-US" sz="1250" b="1" dirty="0">
                <a:solidFill>
                  <a:schemeClr val="tx1"/>
                </a:solidFill>
              </a:rPr>
              <a:t>2342</a:t>
            </a:r>
            <a:endParaRPr lang="pt-BR" sz="1250" dirty="0"/>
          </a:p>
        </p:txBody>
      </p:sp>
      <p:sp>
        <p:nvSpPr>
          <p:cNvPr id="29" name="cartao-120"/>
          <p:cNvSpPr/>
          <p:nvPr/>
        </p:nvSpPr>
        <p:spPr>
          <a:xfrm>
            <a:off x="4311396" y="507492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30" name="cartao-121"/>
          <p:cNvSpPr/>
          <p:nvPr/>
        </p:nvSpPr>
        <p:spPr>
          <a:xfrm>
            <a:off x="5134356" y="5148072"/>
            <a:ext cx="2606040" cy="347472"/>
          </a:xfrm>
          <a:prstGeom prst="roundRect">
            <a:avLst>
              <a:gd name="adj" fmla="val 31579"/>
            </a:avLst>
          </a:prstGeom>
          <a:solidFill>
            <a:schemeClr val="accent1"/>
          </a:solidFill>
          <a:ln/>
        </p:spPr>
      </p:sp>
      <p:sp>
        <p:nvSpPr>
          <p:cNvPr id="31" name="texto-122"/>
          <p:cNvSpPr txBox="1"/>
          <p:nvPr/>
        </p:nvSpPr>
        <p:spPr>
          <a:xfrm>
            <a:off x="5271516" y="52212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troca o nome do 2342 pelo do RG</a:t>
            </a:r>
            <a:endParaRPr lang="pt-BR" sz="1250" dirty="0"/>
          </a:p>
        </p:txBody>
      </p:sp>
      <p:sp>
        <p:nvSpPr>
          <p:cNvPr id="32" name="cartao-123"/>
          <p:cNvSpPr/>
          <p:nvPr/>
        </p:nvSpPr>
        <p:spPr>
          <a:xfrm>
            <a:off x="4448556" y="5541264"/>
            <a:ext cx="310896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33" name="texto-124"/>
          <p:cNvSpPr txBox="1"/>
          <p:nvPr/>
        </p:nvSpPr>
        <p:spPr>
          <a:xfrm>
            <a:off x="4585716" y="56144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Nome: </a:t>
            </a:r>
            <a:r>
              <a:rPr lang="pt-BR" altLang="en-US" sz="1250" b="1" dirty="0">
                <a:solidFill>
                  <a:schemeClr val="tx1"/>
                </a:solidFill>
              </a:rPr>
              <a:t>Maria S.</a:t>
            </a:r>
            <a:r>
              <a:rPr lang="pt-BR" altLang="en-US" sz="1250" dirty="0">
                <a:solidFill>
                  <a:schemeClr val="tx1"/>
                </a:solidFill>
              </a:rPr>
              <a:t> → </a:t>
            </a:r>
            <a:r>
              <a:rPr lang="pt-BR" altLang="en-US" sz="1250" b="1" dirty="0">
                <a:solidFill>
                  <a:schemeClr val="tx1"/>
                </a:solidFill>
              </a:rPr>
              <a:t>Maria Souza</a:t>
            </a:r>
            <a:r>
              <a:rPr lang="pt-BR" altLang="en-US" sz="1250" dirty="0">
                <a:solidFill>
                  <a:schemeClr val="tx1"/>
                </a:solidFill>
              </a:rPr>
              <a:t>. Troco?</a:t>
            </a:r>
            <a:endParaRPr lang="pt-BR" sz="1250" dirty="0"/>
          </a:p>
        </p:txBody>
      </p:sp>
      <p:sp>
        <p:nvSpPr>
          <p:cNvPr id="34" name="cartao-125"/>
          <p:cNvSpPr/>
          <p:nvPr/>
        </p:nvSpPr>
        <p:spPr>
          <a:xfrm>
            <a:off x="8074152" y="507492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35" name="cartao-126"/>
          <p:cNvSpPr/>
          <p:nvPr/>
        </p:nvSpPr>
        <p:spPr>
          <a:xfrm>
            <a:off x="8897112" y="5148072"/>
            <a:ext cx="2606040" cy="347472"/>
          </a:xfrm>
          <a:prstGeom prst="roundRect">
            <a:avLst>
              <a:gd name="adj" fmla="val 31579"/>
            </a:avLst>
          </a:prstGeom>
          <a:solidFill>
            <a:schemeClr val="accent1"/>
          </a:solidFill>
          <a:ln/>
        </p:spPr>
      </p:sp>
      <p:sp>
        <p:nvSpPr>
          <p:cNvPr id="36" name="texto-127"/>
          <p:cNvSpPr txBox="1"/>
          <p:nvPr/>
        </p:nvSpPr>
        <p:spPr>
          <a:xfrm>
            <a:off x="9034272" y="52212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manda o pedido pro hospital</a:t>
            </a:r>
            <a:endParaRPr lang="pt-BR" sz="1250" dirty="0"/>
          </a:p>
        </p:txBody>
      </p:sp>
      <p:sp>
        <p:nvSpPr>
          <p:cNvPr id="37" name="cartao-128"/>
          <p:cNvSpPr/>
          <p:nvPr/>
        </p:nvSpPr>
        <p:spPr>
          <a:xfrm>
            <a:off x="8211312" y="5541264"/>
            <a:ext cx="310896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38" name="texto-129"/>
          <p:cNvSpPr txBox="1"/>
          <p:nvPr/>
        </p:nvSpPr>
        <p:spPr>
          <a:xfrm>
            <a:off x="8348472" y="56144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Prévia do e-mail… digite </a:t>
            </a:r>
            <a:r>
              <a:rPr lang="pt-BR" altLang="en-US" sz="1250" b="1" dirty="0">
                <a:solidFill>
                  <a:schemeClr val="tx1"/>
                </a:solidFill>
              </a:rPr>
              <a:t>aprovo K7Q2</a:t>
            </a:r>
            <a:endParaRPr lang="pt-BR" sz="1250" dirty="0"/>
          </a:p>
        </p:txBody>
      </p:sp>
      <p:sp>
        <p:nvSpPr>
          <p:cNvPr id="39" name="texto-130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050" dirty="0">
                <a:solidFill>
                  <a:schemeClr val="tx2"/>
                </a:solidFill>
              </a:rPr>
              <a:t>Cada ferramenta de escrita e envio tem um interruptor (liga/desliga em ~15 s) e nasce desligada. Fora da IA: etapa do checklist, e-mail do card e senhas.</a:t>
            </a:r>
            <a:endParaRPr lang="pt-B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NOVO · LEITURA DE DOCUMENTOS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/documentos — a IA lê a pasta e </a:t>
            </a:r>
            <a:r>
              <a:rPr lang="en-US" sz="3000" b="1" dirty="0">
                <a:solidFill>
                  <a:schemeClr val="accent2"/>
                </a:solidFill>
              </a:rPr>
              <a:t>acerta o cadastro</a:t>
            </a:r>
            <a:endParaRPr lang="en-US" sz="3000" dirty="0"/>
          </a:p>
        </p:txBody>
      </p:sp>
      <p:sp>
        <p:nvSpPr>
          <p:cNvPr id="4" name="passo-131"/>
          <p:cNvSpPr/>
          <p:nvPr/>
        </p:nvSpPr>
        <p:spPr>
          <a:xfrm>
            <a:off x="548640" y="150876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o-132"/>
          <p:cNvSpPr txBox="1"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1</a:t>
            </a:r>
            <a:endParaRPr lang="pt-BR" sz="1300" dirty="0"/>
          </a:p>
        </p:txBody>
      </p:sp>
      <p:sp>
        <p:nvSpPr>
          <p:cNvPr id="6" name="texto-133"/>
          <p:cNvSpPr txBox="1"/>
          <p:nvPr/>
        </p:nvSpPr>
        <p:spPr>
          <a:xfrm>
            <a:off x="1042416" y="149047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Lê todos os arquivos da pasta de uma vez</a:t>
            </a:r>
            <a:endParaRPr lang="pt-BR" sz="1400" dirty="0"/>
          </a:p>
        </p:txBody>
      </p:sp>
      <p:sp>
        <p:nvSpPr>
          <p:cNvPr id="7" name="texto-134"/>
          <p:cNvSpPr txBox="1"/>
          <p:nvPr/>
        </p:nvSpPr>
        <p:spPr>
          <a:xfrm>
            <a:off x="1042416" y="1764792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Até 12 arquivos por card (8 MB cada), com o mesmo leitor da Auditoria IA.</a:t>
            </a:r>
            <a:endParaRPr lang="pt-BR" sz="1250" dirty="0"/>
          </a:p>
        </p:txBody>
      </p:sp>
      <p:sp>
        <p:nvSpPr>
          <p:cNvPr id="8" name="passo-135"/>
          <p:cNvSpPr/>
          <p:nvPr/>
        </p:nvSpPr>
        <p:spPr>
          <a:xfrm>
            <a:off x="548640" y="237744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texto-136"/>
          <p:cNvSpPr txBox="1"/>
          <p:nvPr/>
        </p:nvSpPr>
        <p:spPr>
          <a:xfrm>
            <a:off x="54864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2</a:t>
            </a:r>
            <a:endParaRPr lang="pt-BR" sz="1300" dirty="0"/>
          </a:p>
        </p:txBody>
      </p:sp>
      <p:sp>
        <p:nvSpPr>
          <p:cNvPr id="10" name="texto-137"/>
          <p:cNvSpPr txBox="1"/>
          <p:nvPr/>
        </p:nvSpPr>
        <p:spPr>
          <a:xfrm>
            <a:off x="1042416" y="235915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Extrai o que está escrito</a:t>
            </a:r>
            <a:endParaRPr lang="pt-BR" sz="1400" dirty="0"/>
          </a:p>
        </p:txBody>
      </p:sp>
      <p:sp>
        <p:nvSpPr>
          <p:cNvPr id="11" name="texto-138"/>
          <p:cNvSpPr txBox="1"/>
          <p:nvPr/>
        </p:nvSpPr>
        <p:spPr>
          <a:xfrm>
            <a:off x="1042416" y="2633472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Tipo do documento, nome, CPF, RG, nascimento, filiação, endereço.</a:t>
            </a:r>
            <a:endParaRPr lang="pt-BR" sz="1250" dirty="0"/>
          </a:p>
        </p:txBody>
      </p:sp>
      <p:sp>
        <p:nvSpPr>
          <p:cNvPr id="12" name="passo-139"/>
          <p:cNvSpPr/>
          <p:nvPr/>
        </p:nvSpPr>
        <p:spPr>
          <a:xfrm>
            <a:off x="548640" y="324612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texto-140"/>
          <p:cNvSpPr txBox="1"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3</a:t>
            </a:r>
            <a:endParaRPr lang="pt-BR" sz="1300" dirty="0"/>
          </a:p>
        </p:txBody>
      </p:sp>
      <p:sp>
        <p:nvSpPr>
          <p:cNvPr id="14" name="texto-141"/>
          <p:cNvSpPr txBox="1"/>
          <p:nvPr/>
        </p:nvSpPr>
        <p:spPr>
          <a:xfrm>
            <a:off x="1042416" y="32278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Compara com o cadastro</a:t>
            </a:r>
            <a:endParaRPr lang="pt-BR" sz="1400" dirty="0"/>
          </a:p>
        </p:txBody>
      </p:sp>
      <p:sp>
        <p:nvSpPr>
          <p:cNvPr id="15" name="texto-142"/>
          <p:cNvSpPr txBox="1"/>
          <p:nvPr/>
        </p:nvSpPr>
        <p:spPr>
          <a:xfrm>
            <a:off x="1042416" y="3502152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O que dá para preencher, o que precisa trocar e as divergências — citando o arquivo de onde veio.</a:t>
            </a:r>
            <a:endParaRPr lang="pt-BR" sz="1250" dirty="0"/>
          </a:p>
        </p:txBody>
      </p:sp>
      <p:sp>
        <p:nvSpPr>
          <p:cNvPr id="16" name="passo-143"/>
          <p:cNvSpPr/>
          <p:nvPr/>
        </p:nvSpPr>
        <p:spPr>
          <a:xfrm>
            <a:off x="548640" y="411480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exto-144"/>
          <p:cNvSpPr txBox="1"/>
          <p:nvPr/>
        </p:nvSpPr>
        <p:spPr>
          <a:xfrm>
            <a:off x="5486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4</a:t>
            </a:r>
            <a:endParaRPr lang="pt-BR" sz="1300" dirty="0"/>
          </a:p>
        </p:txBody>
      </p:sp>
      <p:sp>
        <p:nvSpPr>
          <p:cNvPr id="18" name="texto-145"/>
          <p:cNvSpPr txBox="1"/>
          <p:nvPr/>
        </p:nvSpPr>
        <p:spPr>
          <a:xfrm>
            <a:off x="1042416" y="409651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Oferece corrigir na hora</a:t>
            </a:r>
            <a:endParaRPr lang="pt-BR" sz="1400" dirty="0"/>
          </a:p>
        </p:txBody>
      </p:sp>
      <p:sp>
        <p:nvSpPr>
          <p:cNvPr id="19" name="texto-146"/>
          <p:cNvSpPr txBox="1"/>
          <p:nvPr/>
        </p:nvSpPr>
        <p:spPr>
          <a:xfrm>
            <a:off x="1042416" y="4370832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Campo vazio grava direto; troca de valor mostra antes → depois e pergunta.</a:t>
            </a:r>
            <a:endParaRPr lang="pt-BR" sz="1250" dirty="0"/>
          </a:p>
        </p:txBody>
      </p:sp>
      <p:sp>
        <p:nvSpPr>
          <p:cNvPr id="20" name="cartao-147"/>
          <p:cNvSpPr/>
          <p:nvPr/>
        </p:nvSpPr>
        <p:spPr>
          <a:xfrm>
            <a:off x="548640" y="5029200"/>
            <a:ext cx="5760720" cy="1097280"/>
          </a:xfrm>
          <a:prstGeom prst="roundRect">
            <a:avLst>
              <a:gd name="adj" fmla="val 10000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1" name="texto-148"/>
          <p:cNvSpPr txBox="1"/>
          <p:nvPr/>
        </p:nvSpPr>
        <p:spPr>
          <a:xfrm>
            <a:off x="749808" y="5029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chemeClr val="tx1"/>
                </a:solidFill>
              </a:rPr>
              <a:t>Na /varredura:</a:t>
            </a:r>
            <a:r>
              <a:rPr lang="pt-BR" altLang="en-US" sz="1300" dirty="0">
                <a:solidFill>
                  <a:schemeClr val="tx1"/>
                </a:solidFill>
              </a:rPr>
              <a:t> os cards com CPF inválido já têm os documentos lidos — a IA propõe o CPF certo. Até 3 cards em paralelo; de 4 em diante, em segundo plano.</a:t>
            </a:r>
            <a:endParaRPr lang="pt-BR" sz="1300" dirty="0"/>
          </a:p>
        </p:txBody>
      </p:sp>
      <p:sp>
        <p:nvSpPr>
          <p:cNvPr id="22" name="cartao-149"/>
          <p:cNvSpPr/>
          <p:nvPr/>
        </p:nvSpPr>
        <p:spPr>
          <a:xfrm>
            <a:off x="6583680" y="1463040"/>
            <a:ext cx="5056632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3" name="texto-150"/>
          <p:cNvSpPr txBox="1"/>
          <p:nvPr/>
        </p:nvSpPr>
        <p:spPr>
          <a:xfrm>
            <a:off x="6784848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00" dirty="0">
                <a:solidFill>
                  <a:schemeClr val="tx2"/>
                </a:solidFill>
              </a:rPr>
              <a:t>Exemplo de resposta (dados fictícios) — card </a:t>
            </a:r>
            <a:r>
              <a:rPr lang="pt-BR" altLang="en-US" sz="1100" b="1" dirty="0">
                <a:solidFill>
                  <a:schemeClr val="tx2"/>
                </a:solidFill>
              </a:rPr>
              <a:t>2342</a:t>
            </a:r>
            <a:endParaRPr lang="pt-BR" sz="1100" dirty="0"/>
          </a:p>
        </p:txBody>
      </p:sp>
      <p:graphicFrame>
        <p:nvGraphicFramePr>
          <p:cNvPr id="7" name="tabela-docum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4848" y="1938528"/>
          <a:ext cx="46634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9164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CAMPO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CADASTRO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DOCUMENTO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CPF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123.456.789-00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123.456.789-09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RG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chemeClr val="tx2"/>
                          </a:solidFill>
                        </a:rPr>
                        <a:t>vazio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12.345.678-9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Nascimento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04/03/1985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04/03/1985 ✓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Mãe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chemeClr val="tx2"/>
                          </a:solidFill>
                        </a:rPr>
                        <a:t>vazio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Ana Souza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o-151"/>
          <p:cNvSpPr txBox="1"/>
          <p:nvPr/>
        </p:nvSpPr>
        <p:spPr>
          <a:xfrm>
            <a:off x="6784848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Fonte: </a:t>
            </a:r>
            <a:r>
              <a:rPr lang="pt-BR" altLang="en-US" sz="1300" b="1" dirty="0">
                <a:solidFill>
                  <a:schemeClr val="tx1"/>
                </a:solidFill>
              </a:rPr>
              <a:t>RG.pdf</a:t>
            </a:r>
            <a:r>
              <a:rPr lang="pt-BR" altLang="en-US" sz="1300" dirty="0">
                <a:solidFill>
                  <a:schemeClr val="tx1"/>
                </a:solidFill>
              </a:rPr>
              <a:t> (pasta Identificação)</a:t>
            </a:r>
            <a:endParaRPr lang="pt-BR" sz="1300" dirty="0"/>
          </a:p>
          <a:p>
            <a:pPr indent="0" marL="0">
              <a:buNone/>
            </a:pPr>
            <a:r>
              <a:rPr lang="pt-BR" altLang="en-US" sz="1300" b="1" dirty="0">
                <a:solidFill>
                  <a:schemeClr val="tx1"/>
                </a:solidFill>
              </a:rPr>
              <a:t>Próximo:</a:t>
            </a:r>
            <a:r>
              <a:rPr lang="pt-BR" altLang="en-US" sz="1300" dirty="0">
                <a:solidFill>
                  <a:schemeClr val="tx1"/>
                </a:solidFill>
              </a:rPr>
              <a:t> preencho RG e mãe e troco o CPF?</a:t>
            </a:r>
            <a:endParaRPr lang="pt-BR" sz="1300" dirty="0"/>
          </a:p>
        </p:txBody>
      </p:sp>
      <p:sp>
        <p:nvSpPr>
          <p:cNvPr id="26" name="texto-152"/>
          <p:cNvSpPr txBox="1"/>
          <p:nvPr/>
        </p:nvSpPr>
        <p:spPr>
          <a:xfrm>
            <a:off x="6583680" y="512064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50" dirty="0">
                <a:solidFill>
                  <a:schemeClr val="tx2"/>
                </a:solidFill>
              </a:rPr>
              <a:t>Usa IA a cada card (o custo entra no Canto da IA). Nasce com o interruptor desligado.</a:t>
            </a:r>
            <a:endParaRPr lang="pt-B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DOCUMENTOS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Procuração, pedido e KIT: </a:t>
            </a:r>
            <a:r>
              <a:rPr lang="en-US" sz="3000" b="1" dirty="0">
                <a:solidFill>
                  <a:schemeClr val="accent2"/>
                </a:solidFill>
              </a:rPr>
              <a:t>conferidos antes de existir</a:t>
            </a:r>
            <a:endParaRPr lang="en-US" sz="3000" dirty="0"/>
          </a:p>
        </p:txBody>
      </p:sp>
      <p:sp>
        <p:nvSpPr>
          <p:cNvPr id="4" name="passo-153"/>
          <p:cNvSpPr/>
          <p:nvPr/>
        </p:nvSpPr>
        <p:spPr>
          <a:xfrm>
            <a:off x="548640" y="150876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o-154"/>
          <p:cNvSpPr txBox="1"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1</a:t>
            </a:r>
            <a:endParaRPr lang="pt-BR" sz="1300" dirty="0"/>
          </a:p>
        </p:txBody>
      </p:sp>
      <p:sp>
        <p:nvSpPr>
          <p:cNvPr id="6" name="texto-155"/>
          <p:cNvSpPr txBox="1"/>
          <p:nvPr/>
        </p:nvSpPr>
        <p:spPr>
          <a:xfrm>
            <a:off x="1042416" y="1490472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Escolhe o modelo pelo nome</a:t>
            </a:r>
            <a:endParaRPr lang="pt-BR" sz="1400" dirty="0"/>
          </a:p>
        </p:txBody>
      </p:sp>
      <p:sp>
        <p:nvSpPr>
          <p:cNvPr id="7" name="texto-156"/>
          <p:cNvSpPr txBox="1"/>
          <p:nvPr/>
        </p:nvSpPr>
        <p:spPr>
          <a:xfrm>
            <a:off x="1042416" y="1764792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Os mesmos .docx da aba Integrações.</a:t>
            </a:r>
            <a:endParaRPr lang="pt-BR" sz="1250" dirty="0"/>
          </a:p>
        </p:txBody>
      </p:sp>
      <p:sp>
        <p:nvSpPr>
          <p:cNvPr id="8" name="passo-157"/>
          <p:cNvSpPr/>
          <p:nvPr/>
        </p:nvSpPr>
        <p:spPr>
          <a:xfrm>
            <a:off x="548640" y="242316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o-158"/>
          <p:cNvSpPr txBox="1"/>
          <p:nvPr/>
        </p:nvSpPr>
        <p:spPr>
          <a:xfrm>
            <a:off x="548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2</a:t>
            </a:r>
            <a:endParaRPr lang="pt-BR" sz="1300" dirty="0"/>
          </a:p>
        </p:txBody>
      </p:sp>
      <p:sp>
        <p:nvSpPr>
          <p:cNvPr id="10" name="texto-159"/>
          <p:cNvSpPr txBox="1"/>
          <p:nvPr/>
        </p:nvSpPr>
        <p:spPr>
          <a:xfrm>
            <a:off x="1042416" y="2404872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Confere os campos</a:t>
            </a:r>
            <a:endParaRPr lang="pt-BR" sz="1400" dirty="0"/>
          </a:p>
        </p:txBody>
      </p:sp>
      <p:sp>
        <p:nvSpPr>
          <p:cNvPr id="11" name="texto-160"/>
          <p:cNvSpPr txBox="1"/>
          <p:nvPr/>
        </p:nvSpPr>
        <p:spPr>
          <a:xfrm>
            <a:off x="1042416" y="2679192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Faltou algum? Lista o que falta e pergunta — dá para completar o cadastro ali mesmo. Nunca sai "undefined".</a:t>
            </a:r>
            <a:endParaRPr lang="pt-BR" sz="1250" dirty="0"/>
          </a:p>
        </p:txBody>
      </p:sp>
      <p:sp>
        <p:nvSpPr>
          <p:cNvPr id="12" name="passo-161"/>
          <p:cNvSpPr/>
          <p:nvPr/>
        </p:nvSpPr>
        <p:spPr>
          <a:xfrm>
            <a:off x="548640" y="333756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o-162"/>
          <p:cNvSpPr txBox="1"/>
          <p:nvPr/>
        </p:nvSpPr>
        <p:spPr>
          <a:xfrm>
            <a:off x="54864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3</a:t>
            </a:r>
            <a:endParaRPr lang="pt-BR" sz="1300" dirty="0"/>
          </a:p>
        </p:txBody>
      </p:sp>
      <p:sp>
        <p:nvSpPr>
          <p:cNvPr id="14" name="texto-163"/>
          <p:cNvSpPr txBox="1"/>
          <p:nvPr/>
        </p:nvSpPr>
        <p:spPr>
          <a:xfrm>
            <a:off x="1042416" y="3319272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Gera o PDF como rascunho</a:t>
            </a:r>
            <a:endParaRPr lang="pt-BR" sz="1400" dirty="0"/>
          </a:p>
        </p:txBody>
      </p:sp>
      <p:sp>
        <p:nvSpPr>
          <p:cNvPr id="15" name="texto-164"/>
          <p:cNvSpPr txBox="1"/>
          <p:nvPr/>
        </p:nvSpPr>
        <p:spPr>
          <a:xfrm>
            <a:off x="1042416" y="3593592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Fica no S3 por 7 dias, com link de prévia. O card não muda até anexar.</a:t>
            </a:r>
            <a:endParaRPr lang="pt-BR" sz="1250" dirty="0"/>
          </a:p>
        </p:txBody>
      </p:sp>
      <p:sp>
        <p:nvSpPr>
          <p:cNvPr id="16" name="passo-165"/>
          <p:cNvSpPr/>
          <p:nvPr/>
        </p:nvSpPr>
        <p:spPr>
          <a:xfrm>
            <a:off x="548640" y="425196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o-166"/>
          <p:cNvSpPr txBox="1"/>
          <p:nvPr/>
        </p:nvSpPr>
        <p:spPr>
          <a:xfrm>
            <a:off x="5486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4</a:t>
            </a:r>
            <a:endParaRPr lang="pt-BR" sz="1300" dirty="0"/>
          </a:p>
        </p:txBody>
      </p:sp>
      <p:sp>
        <p:nvSpPr>
          <p:cNvPr id="18" name="texto-167"/>
          <p:cNvSpPr txBox="1"/>
          <p:nvPr/>
        </p:nvSpPr>
        <p:spPr>
          <a:xfrm>
            <a:off x="1042416" y="4233672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Anexa na pasta certa</a:t>
            </a:r>
            <a:endParaRPr lang="pt-BR" sz="1400" dirty="0"/>
          </a:p>
        </p:txBody>
      </p:sp>
      <p:sp>
        <p:nvSpPr>
          <p:cNvPr id="19" name="texto-168"/>
          <p:cNvSpPr txBox="1"/>
          <p:nvPr/>
        </p:nvSpPr>
        <p:spPr>
          <a:xfrm>
            <a:off x="1042416" y="4507992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Direto (contrato/KIT pede "sim"). Até 10 rascunhos de cards diferentes numa chamada.</a:t>
            </a:r>
            <a:endParaRPr lang="pt-BR" sz="1250" dirty="0"/>
          </a:p>
        </p:txBody>
      </p:sp>
      <p:sp>
        <p:nvSpPr>
          <p:cNvPr id="20" name="texto-169"/>
          <p:cNvSpPr txBox="1"/>
          <p:nvPr/>
        </p:nvSpPr>
        <p:spPr>
          <a:xfrm>
            <a:off x="548640" y="52578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O rascunho é do </a:t>
            </a:r>
            <a:r>
              <a:rPr lang="pt-BR" altLang="en-US" sz="1250" b="1" dirty="0">
                <a:solidFill>
                  <a:schemeClr val="tx2"/>
                </a:solidFill>
              </a:rPr>
              <a:t>card</a:t>
            </a:r>
            <a:r>
              <a:rPr lang="pt-BR" altLang="en-US" sz="1250" dirty="0">
                <a:solidFill>
                  <a:schemeClr val="tx2"/>
                </a:solidFill>
              </a:rPr>
              <a:t>: um colega que continua o trabalho aproveita o PDF já gerado. Data sempre no horário de Brasília.</a:t>
            </a:r>
            <a:endParaRPr lang="pt-BR" sz="1250" dirty="0"/>
          </a:p>
        </p:txBody>
      </p:sp>
      <p:sp>
        <p:nvSpPr>
          <p:cNvPr id="21" name="cartao-170"/>
          <p:cNvSpPr/>
          <p:nvPr/>
        </p:nvSpPr>
        <p:spPr>
          <a:xfrm>
            <a:off x="6858000" y="1463040"/>
            <a:ext cx="4782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2" name="texto-171"/>
          <p:cNvSpPr txBox="1"/>
          <p:nvPr/>
        </p:nvSpPr>
        <p:spPr>
          <a:xfrm>
            <a:off x="7059168" y="1627632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Vários cards de uma vez</a:t>
            </a:r>
            <a:endParaRPr lang="pt-BR" sz="1600" dirty="0"/>
          </a:p>
        </p:txBody>
      </p:sp>
      <p:sp>
        <p:nvSpPr>
          <p:cNvPr id="23" name="texto-172"/>
          <p:cNvSpPr txBox="1"/>
          <p:nvPr/>
        </p:nvSpPr>
        <p:spPr>
          <a:xfrm>
            <a:off x="7059168" y="1975104"/>
            <a:ext cx="4379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/procuracao e /pedido-prontuario aceitam uma lista ou uma coluna: a IA prepara em paralelo e anexa em lote.</a:t>
            </a:r>
            <a:endParaRPr lang="pt-BR" sz="1300" dirty="0"/>
          </a:p>
        </p:txBody>
      </p:sp>
      <p:sp>
        <p:nvSpPr>
          <p:cNvPr id="24" name="cartao-173"/>
          <p:cNvSpPr/>
          <p:nvPr/>
        </p:nvSpPr>
        <p:spPr>
          <a:xfrm>
            <a:off x="6858000" y="3063240"/>
            <a:ext cx="4782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5" name="texto-174"/>
          <p:cNvSpPr txBox="1"/>
          <p:nvPr/>
        </p:nvSpPr>
        <p:spPr>
          <a:xfrm>
            <a:off x="7059168" y="3227832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Como mandar ao hospital</a:t>
            </a:r>
            <a:endParaRPr lang="pt-BR" sz="1600" dirty="0"/>
          </a:p>
        </p:txBody>
      </p:sp>
      <p:sp>
        <p:nvSpPr>
          <p:cNvPr id="26" name="texto-175"/>
          <p:cNvSpPr txBox="1"/>
          <p:nvPr/>
        </p:nvSpPr>
        <p:spPr>
          <a:xfrm>
            <a:off x="7059168" y="3575304"/>
            <a:ext cx="4379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O pedido vem com o procedimento do hospital (e-mail, presencial, portal) e a fonte: 163 hospitais com nota revisada.</a:t>
            </a:r>
            <a:endParaRPr lang="pt-BR" sz="1300" dirty="0"/>
          </a:p>
        </p:txBody>
      </p:sp>
      <p:sp>
        <p:nvSpPr>
          <p:cNvPr id="27" name="cartao-176"/>
          <p:cNvSpPr/>
          <p:nvPr/>
        </p:nvSpPr>
        <p:spPr>
          <a:xfrm>
            <a:off x="6858000" y="4663440"/>
            <a:ext cx="4782312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28" name="texto-177"/>
          <p:cNvSpPr txBox="1"/>
          <p:nvPr/>
        </p:nvSpPr>
        <p:spPr>
          <a:xfrm>
            <a:off x="7059168" y="4828032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/contrato + ZapSign</a:t>
            </a:r>
            <a:endParaRPr lang="pt-BR" sz="1600" dirty="0"/>
          </a:p>
        </p:txBody>
      </p:sp>
      <p:sp>
        <p:nvSpPr>
          <p:cNvPr id="29" name="texto-178"/>
          <p:cNvSpPr txBox="1"/>
          <p:nvPr/>
        </p:nvSpPr>
        <p:spPr>
          <a:xfrm>
            <a:off x="7059168" y="5175504"/>
            <a:ext cx="4379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Gera o KIT e, pelo Chrome do operador já logado no ZapSign, sobe o PDF e devolve o link de assinatura. </a:t>
            </a:r>
            <a:r>
              <a:rPr lang="pt-BR" altLang="en-US" sz="1300" b="1" dirty="0">
                <a:solidFill>
                  <a:schemeClr val="tx1"/>
                </a:solidFill>
              </a:rPr>
              <a:t>Ainda não testado.</a:t>
            </a:r>
            <a:endParaRPr lang="pt-B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FLUXO COMPLETO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/prontuario — do card ao e-mail enviado, </a:t>
            </a:r>
            <a:r>
              <a:rPr lang="en-US" sz="3000" b="1" dirty="0">
                <a:solidFill>
                  <a:schemeClr val="accent2"/>
                </a:solidFill>
              </a:rPr>
              <a:t>um ou vários</a:t>
            </a:r>
            <a:endParaRPr lang="en-US" sz="3000" dirty="0"/>
          </a:p>
        </p:txBody>
      </p:sp>
      <p:sp>
        <p:nvSpPr>
          <p:cNvPr id="4" name="cartao-179"/>
          <p:cNvSpPr/>
          <p:nvPr/>
        </p:nvSpPr>
        <p:spPr>
          <a:xfrm>
            <a:off x="548640" y="146304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" name="texto-180"/>
          <p:cNvSpPr txBox="1"/>
          <p:nvPr/>
        </p:nvSpPr>
        <p:spPr>
          <a:xfrm>
            <a:off x="749808" y="1600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b="1" spc="100" kern="0" dirty="0">
                <a:solidFill>
                  <a:schemeClr val="accent4"/>
                </a:solidFill>
              </a:rPr>
              <a:t>ENTENDER</a:t>
            </a:r>
            <a:endParaRPr lang="pt-BR" sz="1200" dirty="0"/>
          </a:p>
        </p:txBody>
      </p:sp>
      <p:sp>
        <p:nvSpPr>
          <p:cNvPr id="6" name="passo-181"/>
          <p:cNvSpPr/>
          <p:nvPr/>
        </p:nvSpPr>
        <p:spPr>
          <a:xfrm>
            <a:off x="749808" y="201168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o-182"/>
          <p:cNvSpPr txBox="1"/>
          <p:nvPr/>
        </p:nvSpPr>
        <p:spPr>
          <a:xfrm>
            <a:off x="74980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1</a:t>
            </a:r>
            <a:endParaRPr lang="pt-BR" sz="1300" dirty="0"/>
          </a:p>
        </p:txBody>
      </p:sp>
      <p:sp>
        <p:nvSpPr>
          <p:cNvPr id="8" name="texto-183"/>
          <p:cNvSpPr txBox="1"/>
          <p:nvPr/>
        </p:nvSpPr>
        <p:spPr>
          <a:xfrm>
            <a:off x="1243584" y="19933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Card e hospital</a:t>
            </a:r>
            <a:endParaRPr lang="pt-BR" sz="1400" dirty="0"/>
          </a:p>
        </p:txBody>
      </p:sp>
      <p:sp>
        <p:nvSpPr>
          <p:cNvPr id="9" name="texto-184"/>
          <p:cNvSpPr txBox="1"/>
          <p:nvPr/>
        </p:nvSpPr>
        <p:spPr>
          <a:xfrm>
            <a:off x="1243584" y="22677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modo, e-mail, procuração, prazo</a:t>
            </a:r>
            <a:endParaRPr lang="pt-BR" sz="1250" dirty="0"/>
          </a:p>
        </p:txBody>
      </p:sp>
      <p:sp>
        <p:nvSpPr>
          <p:cNvPr id="10" name="passo-185"/>
          <p:cNvSpPr/>
          <p:nvPr/>
        </p:nvSpPr>
        <p:spPr>
          <a:xfrm>
            <a:off x="749808" y="292608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o-186"/>
          <p:cNvSpPr txBox="1"/>
          <p:nvPr/>
        </p:nvSpPr>
        <p:spPr>
          <a:xfrm>
            <a:off x="749808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2</a:t>
            </a:r>
            <a:endParaRPr lang="pt-BR" sz="1300" dirty="0"/>
          </a:p>
        </p:txBody>
      </p:sp>
      <p:sp>
        <p:nvSpPr>
          <p:cNvPr id="12" name="texto-187"/>
          <p:cNvSpPr txBox="1"/>
          <p:nvPr/>
        </p:nvSpPr>
        <p:spPr>
          <a:xfrm>
            <a:off x="1243584" y="29077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Pendências</a:t>
            </a:r>
            <a:endParaRPr lang="pt-BR" sz="1400" dirty="0"/>
          </a:p>
        </p:txBody>
      </p:sp>
      <p:sp>
        <p:nvSpPr>
          <p:cNvPr id="13" name="texto-188"/>
          <p:cNvSpPr txBox="1"/>
          <p:nvPr/>
        </p:nvSpPr>
        <p:spPr>
          <a:xfrm>
            <a:off x="1243584" y="31821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faltou campo? completa ou para</a:t>
            </a:r>
            <a:endParaRPr lang="pt-BR" sz="1250" dirty="0"/>
          </a:p>
        </p:txBody>
      </p:sp>
      <p:sp>
        <p:nvSpPr>
          <p:cNvPr id="14" name="cartao-189"/>
          <p:cNvSpPr/>
          <p:nvPr/>
        </p:nvSpPr>
        <p:spPr>
          <a:xfrm>
            <a:off x="3374136" y="146304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5" name="texto-190"/>
          <p:cNvSpPr txBox="1"/>
          <p:nvPr/>
        </p:nvSpPr>
        <p:spPr>
          <a:xfrm>
            <a:off x="3575304" y="1600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b="1" spc="100" kern="0" dirty="0">
                <a:solidFill>
                  <a:schemeClr val="accent5"/>
                </a:solidFill>
              </a:rPr>
              <a:t>PREPARAR</a:t>
            </a:r>
            <a:endParaRPr lang="pt-BR" sz="1200" dirty="0"/>
          </a:p>
        </p:txBody>
      </p:sp>
      <p:sp>
        <p:nvSpPr>
          <p:cNvPr id="16" name="passo-191"/>
          <p:cNvSpPr/>
          <p:nvPr/>
        </p:nvSpPr>
        <p:spPr>
          <a:xfrm>
            <a:off x="3575304" y="201168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o-192"/>
          <p:cNvSpPr txBox="1"/>
          <p:nvPr/>
        </p:nvSpPr>
        <p:spPr>
          <a:xfrm>
            <a:off x="3575304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3</a:t>
            </a:r>
            <a:endParaRPr lang="pt-BR" sz="1300" dirty="0"/>
          </a:p>
        </p:txBody>
      </p:sp>
      <p:sp>
        <p:nvSpPr>
          <p:cNvPr id="18" name="texto-193"/>
          <p:cNvSpPr txBox="1"/>
          <p:nvPr/>
        </p:nvSpPr>
        <p:spPr>
          <a:xfrm>
            <a:off x="4069080" y="19933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Pedido + procuração</a:t>
            </a:r>
            <a:endParaRPr lang="pt-BR" sz="1400" dirty="0"/>
          </a:p>
        </p:txBody>
      </p:sp>
      <p:sp>
        <p:nvSpPr>
          <p:cNvPr id="19" name="texto-194"/>
          <p:cNvSpPr txBox="1"/>
          <p:nvPr/>
        </p:nvSpPr>
        <p:spPr>
          <a:xfrm>
            <a:off x="4069080" y="22677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PDFs em rascunho, em paralelo</a:t>
            </a:r>
            <a:endParaRPr lang="pt-BR" sz="1250" dirty="0"/>
          </a:p>
        </p:txBody>
      </p:sp>
      <p:sp>
        <p:nvSpPr>
          <p:cNvPr id="20" name="passo-195"/>
          <p:cNvSpPr/>
          <p:nvPr/>
        </p:nvSpPr>
        <p:spPr>
          <a:xfrm>
            <a:off x="3575304" y="292608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o-196"/>
          <p:cNvSpPr txBox="1"/>
          <p:nvPr/>
        </p:nvSpPr>
        <p:spPr>
          <a:xfrm>
            <a:off x="3575304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4</a:t>
            </a:r>
            <a:endParaRPr lang="pt-BR" sz="1300" dirty="0"/>
          </a:p>
        </p:txBody>
      </p:sp>
      <p:sp>
        <p:nvSpPr>
          <p:cNvPr id="22" name="texto-197"/>
          <p:cNvSpPr txBox="1"/>
          <p:nvPr/>
        </p:nvSpPr>
        <p:spPr>
          <a:xfrm>
            <a:off x="4069080" y="29077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Anexa no card</a:t>
            </a:r>
            <a:endParaRPr lang="pt-BR" sz="1400" dirty="0"/>
          </a:p>
        </p:txBody>
      </p:sp>
      <p:sp>
        <p:nvSpPr>
          <p:cNvPr id="23" name="texto-198"/>
          <p:cNvSpPr txBox="1"/>
          <p:nvPr/>
        </p:nvSpPr>
        <p:spPr>
          <a:xfrm>
            <a:off x="4069080" y="31821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direto, em lote</a:t>
            </a:r>
            <a:endParaRPr lang="pt-BR" sz="1250" dirty="0"/>
          </a:p>
        </p:txBody>
      </p:sp>
      <p:sp>
        <p:nvSpPr>
          <p:cNvPr id="24" name="cartao-199"/>
          <p:cNvSpPr/>
          <p:nvPr/>
        </p:nvSpPr>
        <p:spPr>
          <a:xfrm>
            <a:off x="6199632" y="146304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5" name="texto-200"/>
          <p:cNvSpPr txBox="1"/>
          <p:nvPr/>
        </p:nvSpPr>
        <p:spPr>
          <a:xfrm>
            <a:off x="6400800" y="1600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b="1" spc="100" kern="0" dirty="0">
                <a:solidFill>
                  <a:schemeClr val="accent2"/>
                </a:solidFill>
              </a:rPr>
              <a:t>ENVIAR</a:t>
            </a:r>
            <a:endParaRPr lang="pt-BR" sz="1200" dirty="0"/>
          </a:p>
        </p:txBody>
      </p:sp>
      <p:sp>
        <p:nvSpPr>
          <p:cNvPr id="26" name="passo-201"/>
          <p:cNvSpPr/>
          <p:nvPr/>
        </p:nvSpPr>
        <p:spPr>
          <a:xfrm>
            <a:off x="6400800" y="20116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o-202"/>
          <p:cNvSpPr txBox="1"/>
          <p:nvPr/>
        </p:nvSpPr>
        <p:spPr>
          <a:xfrm>
            <a:off x="64008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5</a:t>
            </a:r>
            <a:endParaRPr lang="pt-BR" sz="1300" dirty="0"/>
          </a:p>
        </p:txBody>
      </p:sp>
      <p:sp>
        <p:nvSpPr>
          <p:cNvPr id="28" name="texto-203"/>
          <p:cNvSpPr txBox="1"/>
          <p:nvPr/>
        </p:nvSpPr>
        <p:spPr>
          <a:xfrm>
            <a:off x="6894576" y="19933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Prévia dos e-mails</a:t>
            </a:r>
            <a:endParaRPr lang="pt-BR" sz="1400" dirty="0"/>
          </a:p>
        </p:txBody>
      </p:sp>
      <p:sp>
        <p:nvSpPr>
          <p:cNvPr id="29" name="texto-204"/>
          <p:cNvSpPr txBox="1"/>
          <p:nvPr/>
        </p:nvSpPr>
        <p:spPr>
          <a:xfrm>
            <a:off x="6894576" y="22677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até 10 cards, ao e-mail do hospital</a:t>
            </a:r>
            <a:endParaRPr lang="pt-BR" sz="1250" dirty="0"/>
          </a:p>
        </p:txBody>
      </p:sp>
      <p:sp>
        <p:nvSpPr>
          <p:cNvPr id="30" name="passo-205"/>
          <p:cNvSpPr/>
          <p:nvPr/>
        </p:nvSpPr>
        <p:spPr>
          <a:xfrm>
            <a:off x="6400800" y="29260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o-206"/>
          <p:cNvSpPr txBox="1"/>
          <p:nvPr/>
        </p:nvSpPr>
        <p:spPr>
          <a:xfrm>
            <a:off x="64008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6</a:t>
            </a:r>
            <a:endParaRPr lang="pt-BR" sz="1300" dirty="0"/>
          </a:p>
        </p:txBody>
      </p:sp>
      <p:sp>
        <p:nvSpPr>
          <p:cNvPr id="32" name="texto-207"/>
          <p:cNvSpPr txBox="1"/>
          <p:nvPr/>
        </p:nvSpPr>
        <p:spPr>
          <a:xfrm>
            <a:off x="6894576" y="29077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"aprovo &lt;código&gt;"</a:t>
            </a:r>
            <a:endParaRPr lang="pt-BR" sz="1400" dirty="0"/>
          </a:p>
        </p:txBody>
      </p:sp>
      <p:sp>
        <p:nvSpPr>
          <p:cNvPr id="33" name="texto-208"/>
          <p:cNvSpPr txBox="1"/>
          <p:nvPr/>
        </p:nvSpPr>
        <p:spPr>
          <a:xfrm>
            <a:off x="6894576" y="31821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um código para o lote</a:t>
            </a:r>
            <a:endParaRPr lang="pt-BR" sz="1250" dirty="0"/>
          </a:p>
        </p:txBody>
      </p:sp>
      <p:sp>
        <p:nvSpPr>
          <p:cNvPr id="34" name="cartao-209"/>
          <p:cNvSpPr/>
          <p:nvPr/>
        </p:nvSpPr>
        <p:spPr>
          <a:xfrm>
            <a:off x="9025128" y="146304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35" name="texto-210"/>
          <p:cNvSpPr txBox="1"/>
          <p:nvPr/>
        </p:nvSpPr>
        <p:spPr>
          <a:xfrm>
            <a:off x="9226296" y="1600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b="1" spc="100" kern="0" dirty="0">
                <a:solidFill>
                  <a:schemeClr val="accent3"/>
                </a:solidFill>
              </a:rPr>
              <a:t>FECHAR</a:t>
            </a:r>
            <a:endParaRPr lang="pt-BR" sz="1200" dirty="0"/>
          </a:p>
        </p:txBody>
      </p:sp>
      <p:sp>
        <p:nvSpPr>
          <p:cNvPr id="36" name="passo-211"/>
          <p:cNvSpPr/>
          <p:nvPr/>
        </p:nvSpPr>
        <p:spPr>
          <a:xfrm>
            <a:off x="9226296" y="201168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7" name="texto-212"/>
          <p:cNvSpPr txBox="1"/>
          <p:nvPr/>
        </p:nvSpPr>
        <p:spPr>
          <a:xfrm>
            <a:off x="9226296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7</a:t>
            </a:r>
            <a:endParaRPr lang="pt-BR" sz="1300" dirty="0"/>
          </a:p>
        </p:txBody>
      </p:sp>
      <p:sp>
        <p:nvSpPr>
          <p:cNvPr id="38" name="texto-213"/>
          <p:cNvSpPr txBox="1"/>
          <p:nvPr/>
        </p:nvSpPr>
        <p:spPr>
          <a:xfrm>
            <a:off x="9720072" y="19933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Registro no card</a:t>
            </a:r>
            <a:endParaRPr lang="pt-BR" sz="1400" dirty="0"/>
          </a:p>
        </p:txBody>
      </p:sp>
      <p:sp>
        <p:nvSpPr>
          <p:cNvPr id="39" name="texto-214"/>
          <p:cNvSpPr txBox="1"/>
          <p:nvPr/>
        </p:nvSpPr>
        <p:spPr>
          <a:xfrm>
            <a:off x="9720072" y="22677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comentário + histórico do envio</a:t>
            </a:r>
            <a:endParaRPr lang="pt-BR" sz="1250" dirty="0"/>
          </a:p>
        </p:txBody>
      </p:sp>
      <p:sp>
        <p:nvSpPr>
          <p:cNvPr id="40" name="passo-215"/>
          <p:cNvSpPr/>
          <p:nvPr/>
        </p:nvSpPr>
        <p:spPr>
          <a:xfrm>
            <a:off x="9226296" y="292608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texto-216"/>
          <p:cNvSpPr txBox="1"/>
          <p:nvPr/>
        </p:nvSpPr>
        <p:spPr>
          <a:xfrm>
            <a:off x="9226296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8</a:t>
            </a:r>
            <a:endParaRPr lang="pt-BR" sz="1300" dirty="0"/>
          </a:p>
        </p:txBody>
      </p:sp>
      <p:sp>
        <p:nvSpPr>
          <p:cNvPr id="42" name="texto-217"/>
          <p:cNvSpPr txBox="1"/>
          <p:nvPr/>
        </p:nvSpPr>
        <p:spPr>
          <a:xfrm>
            <a:off x="9720072" y="29077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Tag e mover</a:t>
            </a:r>
            <a:endParaRPr lang="pt-BR" sz="1400" dirty="0"/>
          </a:p>
        </p:txBody>
      </p:sp>
      <p:sp>
        <p:nvSpPr>
          <p:cNvPr id="43" name="texto-218"/>
          <p:cNvSpPr txBox="1"/>
          <p:nvPr/>
        </p:nvSpPr>
        <p:spPr>
          <a:xfrm>
            <a:off x="9720072" y="318211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oferece em uma linha</a:t>
            </a:r>
            <a:endParaRPr lang="pt-BR" sz="1250" dirty="0"/>
          </a:p>
        </p:txBody>
      </p:sp>
      <p:sp>
        <p:nvSpPr>
          <p:cNvPr id="44" name="cartao-219"/>
          <p:cNvSpPr/>
          <p:nvPr/>
        </p:nvSpPr>
        <p:spPr>
          <a:xfrm>
            <a:off x="548640" y="42062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45" name="texto-220"/>
          <p:cNvSpPr txBox="1"/>
          <p:nvPr/>
        </p:nvSpPr>
        <p:spPr>
          <a:xfrm>
            <a:off x="749808" y="437083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Parou no meio? /retomar</a:t>
            </a:r>
            <a:endParaRPr lang="pt-BR" sz="1600" dirty="0"/>
          </a:p>
        </p:txBody>
      </p:sp>
      <p:sp>
        <p:nvSpPr>
          <p:cNvPr id="46" name="texto-221"/>
          <p:cNvSpPr txBox="1"/>
          <p:nvPr/>
        </p:nvSpPr>
        <p:spPr>
          <a:xfrm>
            <a:off x="749808" y="4718304"/>
            <a:ext cx="5038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50" dirty="0">
                <a:solidFill>
                  <a:schemeClr val="tx1"/>
                </a:solidFill>
              </a:rPr>
              <a:t>Cada ferramenta do fluxo grava o progresso sozinha. Qualquer colega retoma do mesmo ponto: a IA relê o card, aproveita o rascunho e o código ainda válido e segue sem refazer.</a:t>
            </a:r>
            <a:endParaRPr lang="pt-BR" sz="1350" dirty="0"/>
          </a:p>
        </p:txBody>
      </p:sp>
      <p:sp>
        <p:nvSpPr>
          <p:cNvPr id="47" name="cartao-222"/>
          <p:cNvSpPr/>
          <p:nvPr/>
        </p:nvSpPr>
        <p:spPr>
          <a:xfrm>
            <a:off x="6199632" y="42062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48" name="texto-223"/>
          <p:cNvSpPr txBox="1"/>
          <p:nvPr/>
        </p:nvSpPr>
        <p:spPr>
          <a:xfrm>
            <a:off x="6400800" y="437083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2"/>
                </a:solidFill>
              </a:rPr>
              <a:t>O que a IA nunca faz aqui</a:t>
            </a:r>
            <a:endParaRPr lang="pt-BR" sz="1600" dirty="0"/>
          </a:p>
        </p:txBody>
      </p:sp>
      <p:sp>
        <p:nvSpPr>
          <p:cNvPr id="49" name="texto-224"/>
          <p:cNvSpPr txBox="1"/>
          <p:nvPr/>
        </p:nvSpPr>
        <p:spPr>
          <a:xfrm>
            <a:off x="6400800" y="4718304"/>
            <a:ext cx="5038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50" dirty="0">
                <a:solidFill>
                  <a:schemeClr val="tx1"/>
                </a:solidFill>
              </a:rPr>
              <a:t>Enviar sem o código · inventar ou completar e-mail de hospital · mandar WhatsApp ao hospital · reenviar o que já saiu.</a:t>
            </a:r>
            <a:endParaRPr lang="pt-BR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NOVO · MENSAGENS EM LOTE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/whatsapp — uma mensagem, </a:t>
            </a:r>
            <a:r>
              <a:rPr lang="en-US" sz="3000" b="1" dirty="0">
                <a:solidFill>
                  <a:schemeClr val="accent2"/>
                </a:solidFill>
              </a:rPr>
              <a:t>até 20 clientes, um código</a:t>
            </a:r>
            <a:endParaRPr lang="en-US" sz="3000" dirty="0"/>
          </a:p>
        </p:txBody>
      </p:sp>
      <p:sp>
        <p:nvSpPr>
          <p:cNvPr id="4" name="passo-225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o-226"/>
          <p:cNvSpPr txBox="1"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1</a:t>
            </a:r>
            <a:endParaRPr lang="pt-BR" sz="1300" dirty="0"/>
          </a:p>
        </p:txBody>
      </p:sp>
      <p:sp>
        <p:nvSpPr>
          <p:cNvPr id="6" name="texto-227"/>
          <p:cNvSpPr txBox="1"/>
          <p:nvPr/>
        </p:nvSpPr>
        <p:spPr>
          <a:xfrm>
            <a:off x="1042416" y="144475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Escolha os cards</a:t>
            </a:r>
            <a:endParaRPr lang="pt-BR" sz="1400" dirty="0"/>
          </a:p>
        </p:txBody>
      </p:sp>
      <p:sp>
        <p:nvSpPr>
          <p:cNvPr id="7" name="texto-228"/>
          <p:cNvSpPr txBox="1"/>
          <p:nvPr/>
        </p:nvSpPr>
        <p:spPr>
          <a:xfrm>
            <a:off x="1042416" y="1719072"/>
            <a:ext cx="535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Uma coluna, uma lista de números ou um filtro por tag.</a:t>
            </a:r>
            <a:endParaRPr lang="pt-BR" sz="1250" dirty="0"/>
          </a:p>
        </p:txBody>
      </p:sp>
      <p:sp>
        <p:nvSpPr>
          <p:cNvPr id="8" name="passo-229"/>
          <p:cNvSpPr/>
          <p:nvPr/>
        </p:nvSpPr>
        <p:spPr>
          <a:xfrm>
            <a:off x="548640" y="22494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o-230"/>
          <p:cNvSpPr txBox="1"/>
          <p:nvPr/>
        </p:nvSpPr>
        <p:spPr>
          <a:xfrm>
            <a:off x="54864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2</a:t>
            </a:r>
            <a:endParaRPr lang="pt-BR" sz="1300" dirty="0"/>
          </a:p>
        </p:txBody>
      </p:sp>
      <p:sp>
        <p:nvSpPr>
          <p:cNvPr id="10" name="texto-231"/>
          <p:cNvSpPr txBox="1"/>
          <p:nvPr/>
        </p:nvSpPr>
        <p:spPr>
          <a:xfrm>
            <a:off x="1042416" y="2231136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Escreva uma vez</a:t>
            </a:r>
            <a:endParaRPr lang="pt-BR" sz="1400" dirty="0"/>
          </a:p>
        </p:txBody>
      </p:sp>
      <p:sp>
        <p:nvSpPr>
          <p:cNvPr id="11" name="texto-232"/>
          <p:cNvSpPr txBox="1"/>
          <p:nvPr/>
        </p:nvSpPr>
        <p:spPr>
          <a:xfrm>
            <a:off x="1042416" y="2505456"/>
            <a:ext cx="535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Com variáveis [[primeiro_nome]], [[nome]], [[numero]], [[hospital]] — ou um template aprovado.</a:t>
            </a:r>
            <a:endParaRPr lang="pt-BR" sz="1250" dirty="0"/>
          </a:p>
        </p:txBody>
      </p:sp>
      <p:sp>
        <p:nvSpPr>
          <p:cNvPr id="12" name="passo-233"/>
          <p:cNvSpPr/>
          <p:nvPr/>
        </p:nvSpPr>
        <p:spPr>
          <a:xfrm>
            <a:off x="548640" y="30358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o-234"/>
          <p:cNvSpPr txBox="1"/>
          <p:nvPr/>
        </p:nvSpPr>
        <p:spPr>
          <a:xfrm>
            <a:off x="54864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3</a:t>
            </a:r>
            <a:endParaRPr lang="pt-BR" sz="1300" dirty="0"/>
          </a:p>
        </p:txBody>
      </p:sp>
      <p:sp>
        <p:nvSpPr>
          <p:cNvPr id="14" name="texto-235"/>
          <p:cNvSpPr txBox="1"/>
          <p:nvPr/>
        </p:nvSpPr>
        <p:spPr>
          <a:xfrm>
            <a:off x="1042416" y="301752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Confira a prévia</a:t>
            </a:r>
            <a:endParaRPr lang="pt-BR" sz="1400" dirty="0"/>
          </a:p>
        </p:txBody>
      </p:sp>
      <p:sp>
        <p:nvSpPr>
          <p:cNvPr id="15" name="texto-236"/>
          <p:cNvSpPr txBox="1"/>
          <p:nvPr/>
        </p:nvSpPr>
        <p:spPr>
          <a:xfrm>
            <a:off x="1042416" y="3291840"/>
            <a:ext cx="535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Quem recebe, o texto final e quem foi pulado (e por quê).</a:t>
            </a:r>
            <a:endParaRPr lang="pt-BR" sz="1250" dirty="0"/>
          </a:p>
        </p:txBody>
      </p:sp>
      <p:sp>
        <p:nvSpPr>
          <p:cNvPr id="16" name="passo-237"/>
          <p:cNvSpPr/>
          <p:nvPr/>
        </p:nvSpPr>
        <p:spPr>
          <a:xfrm>
            <a:off x="548640" y="38221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o-238"/>
          <p:cNvSpPr txBox="1"/>
          <p:nvPr/>
        </p:nvSpPr>
        <p:spPr>
          <a:xfrm>
            <a:off x="548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4</a:t>
            </a:r>
            <a:endParaRPr lang="pt-BR" sz="1300" dirty="0"/>
          </a:p>
        </p:txBody>
      </p:sp>
      <p:sp>
        <p:nvSpPr>
          <p:cNvPr id="18" name="texto-239"/>
          <p:cNvSpPr txBox="1"/>
          <p:nvPr/>
        </p:nvSpPr>
        <p:spPr>
          <a:xfrm>
            <a:off x="1042416" y="380390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Digite "aprovo &lt;código&gt;"</a:t>
            </a:r>
            <a:endParaRPr lang="pt-BR" sz="1400" dirty="0"/>
          </a:p>
        </p:txBody>
      </p:sp>
      <p:sp>
        <p:nvSpPr>
          <p:cNvPr id="19" name="texto-240"/>
          <p:cNvSpPr txBox="1"/>
          <p:nvPr/>
        </p:nvSpPr>
        <p:spPr>
          <a:xfrm>
            <a:off x="1042416" y="4078224"/>
            <a:ext cx="535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Sai um a um (1,5 s entre envios) e volta o resultado por card, com comentário e histórico em cada um.</a:t>
            </a:r>
            <a:endParaRPr lang="pt-BR" sz="1250" dirty="0"/>
          </a:p>
        </p:txBody>
      </p:sp>
      <p:sp>
        <p:nvSpPr>
          <p:cNvPr id="20" name="cartao-241"/>
          <p:cNvSpPr/>
          <p:nvPr/>
        </p:nvSpPr>
        <p:spPr>
          <a:xfrm>
            <a:off x="548640" y="4681728"/>
            <a:ext cx="58521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texto-242"/>
          <p:cNvSpPr txBox="1"/>
          <p:nvPr/>
        </p:nvSpPr>
        <p:spPr>
          <a:xfrm>
            <a:off x="731520" y="468172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"Oi [[primeiro_nome]], falta o RG para seguirmos com o seu processo."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250" b="1" dirty="0">
                <a:solidFill>
                  <a:schemeClr val="tx1"/>
                </a:solidFill>
              </a:rPr>
              <a:t>11 recebem</a:t>
            </a:r>
            <a:r>
              <a:rPr lang="pt-BR" altLang="en-US" sz="1250" dirty="0">
                <a:solidFill>
                  <a:schemeClr val="tx1"/>
                </a:solidFill>
              </a:rPr>
              <a:t> · </a:t>
            </a:r>
            <a:r>
              <a:rPr lang="pt-BR" altLang="en-US" sz="1250" b="1" dirty="0">
                <a:solidFill>
                  <a:schemeClr val="tx1"/>
                </a:solidFill>
              </a:rPr>
              <a:t>1 pulado</a:t>
            </a:r>
            <a:r>
              <a:rPr lang="pt-BR" altLang="en-US" sz="1250" dirty="0">
                <a:solidFill>
                  <a:schemeClr val="tx1"/>
                </a:solidFill>
              </a:rPr>
              <a:t> (pediu para sair) · digite só </a:t>
            </a:r>
            <a:r>
              <a:rPr lang="pt-BR" altLang="en-US" sz="1250" b="1" dirty="0">
                <a:solidFill>
                  <a:schemeClr val="tx1"/>
                </a:solidFill>
              </a:rPr>
              <a:t>aprovo M3T8</a:t>
            </a:r>
            <a:endParaRPr lang="pt-BR" sz="1250" dirty="0"/>
          </a:p>
        </p:txBody>
      </p:sp>
      <p:sp>
        <p:nvSpPr>
          <p:cNvPr id="22" name="texto-243"/>
          <p:cNvSpPr txBox="1"/>
          <p:nvPr/>
        </p:nvSpPr>
        <p:spPr>
          <a:xfrm>
            <a:off x="548640" y="58704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00" dirty="0">
                <a:solidFill>
                  <a:schemeClr val="tx2"/>
                </a:solidFill>
              </a:rPr>
              <a:t>E-mail também tem lote: até 10 cards com o mesmo assunto e corpo, cada um com seus anexos e destinatário.</a:t>
            </a:r>
            <a:endParaRPr lang="pt-BR" sz="1100" dirty="0"/>
          </a:p>
        </p:txBody>
      </p:sp>
      <p:sp>
        <p:nvSpPr>
          <p:cNvPr id="23" name="cartao-244"/>
          <p:cNvSpPr/>
          <p:nvPr/>
        </p:nvSpPr>
        <p:spPr>
          <a:xfrm>
            <a:off x="6675120" y="1463040"/>
            <a:ext cx="4965192" cy="1600200"/>
          </a:xfrm>
          <a:prstGeom prst="roundRect">
            <a:avLst>
              <a:gd name="adj" fmla="val 6857"/>
            </a:avLst>
          </a:prstGeom>
          <a:solidFill>
            <a:schemeClr val="accent4">
              <a:alpha val="16000"/>
            </a:schemeClr>
          </a:solidFill>
          <a:ln/>
        </p:spPr>
      </p:sp>
      <p:sp>
        <p:nvSpPr>
          <p:cNvPr id="24" name="texto-245"/>
          <p:cNvSpPr txBox="1"/>
          <p:nvPr/>
        </p:nvSpPr>
        <p:spPr>
          <a:xfrm>
            <a:off x="6876288" y="1627632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4"/>
                </a:solidFill>
              </a:rPr>
              <a:t>Mudou em 27/10</a:t>
            </a:r>
            <a:endParaRPr lang="pt-BR" sz="1600" dirty="0"/>
          </a:p>
        </p:txBody>
      </p:sp>
      <p:sp>
        <p:nvSpPr>
          <p:cNvPr id="25" name="texto-246"/>
          <p:cNvSpPr txBox="1"/>
          <p:nvPr/>
        </p:nvSpPr>
        <p:spPr>
          <a:xfrm>
            <a:off x="6876288" y="197510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A mensagem aprovada pelo operador sai como </a:t>
            </a:r>
            <a:r>
              <a:rPr lang="pt-BR" altLang="en-US" sz="1300" b="1" dirty="0">
                <a:solidFill>
                  <a:schemeClr val="tx1"/>
                </a:solidFill>
              </a:rPr>
              <a:t>transacional</a:t>
            </a:r>
            <a:r>
              <a:rPr lang="pt-BR" altLang="en-US" sz="1300" dirty="0">
                <a:solidFill>
                  <a:schemeClr val="tx1"/>
                </a:solidFill>
              </a:rPr>
              <a:t>: sem o intervalo de 6 h das mensagens automáticas. As automáticas que vierem depois respeitam o intervalo.</a:t>
            </a:r>
            <a:endParaRPr lang="pt-BR" sz="1300" dirty="0"/>
          </a:p>
        </p:txBody>
      </p:sp>
      <p:sp>
        <p:nvSpPr>
          <p:cNvPr id="26" name="cartao-247"/>
          <p:cNvSpPr/>
          <p:nvPr/>
        </p:nvSpPr>
        <p:spPr>
          <a:xfrm>
            <a:off x="6675120" y="3246120"/>
            <a:ext cx="4965192" cy="2880360"/>
          </a:xfrm>
          <a:prstGeom prst="roundRect">
            <a:avLst>
              <a:gd name="adj" fmla="val 381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27" name="texto-248"/>
          <p:cNvSpPr txBox="1"/>
          <p:nvPr/>
        </p:nvSpPr>
        <p:spPr>
          <a:xfrm>
            <a:off x="6876288" y="34015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accent2"/>
                </a:solidFill>
              </a:rPr>
              <a:t>Continua valendo (anti-spam)</a:t>
            </a:r>
            <a:endParaRPr lang="pt-BR" sz="1600" dirty="0"/>
          </a:p>
        </p:txBody>
      </p:sp>
      <p:sp>
        <p:nvSpPr>
          <p:cNvPr id="28" name="lista-249"/>
          <p:cNvSpPr txBox="1"/>
          <p:nvPr/>
        </p:nvSpPr>
        <p:spPr>
          <a:xfrm>
            <a:off x="6876288" y="379476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cliente que pediu para sair não recebe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fora da janela de 24 h, só template aprovado da linha do contato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linha com templates pausados não envia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template MARKETING sai com aviso; de código de verificação, nunca</a:t>
            </a:r>
            <a:endParaRPr lang="pt-BR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pt-BR" altLang="en-US" sz="1300" dirty="0">
                <a:solidFill>
                  <a:schemeClr val="tx1"/>
                </a:solidFill>
              </a:rPr>
              <a:t>o mesmo cliente não entra duas vezes no lote</a:t>
            </a:r>
            <a:endParaRPr lang="pt-B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PASTAS PARA A UNI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Pastas para a UNI: </a:t>
            </a:r>
            <a:r>
              <a:rPr lang="en-US" sz="3000" b="1" dirty="0">
                <a:solidFill>
                  <a:schemeClr val="accent2"/>
                </a:solidFill>
              </a:rPr>
              <a:t>do card ao e-mail, sem trabalho braçal</a:t>
            </a:r>
            <a:endParaRPr lang="en-US" sz="3000" dirty="0"/>
          </a:p>
        </p:txBody>
      </p:sp>
      <p:sp>
        <p:nvSpPr>
          <p:cNvPr id="4" name="passo-250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-251"/>
          <p:cNvSpPr txBox="1"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1</a:t>
            </a:r>
            <a:endParaRPr lang="pt-BR" sz="1300" dirty="0"/>
          </a:p>
        </p:txBody>
      </p:sp>
      <p:sp>
        <p:nvSpPr>
          <p:cNvPr id="6" name="texto-252"/>
          <p:cNvSpPr txBox="1"/>
          <p:nvPr/>
        </p:nvSpPr>
        <p:spPr>
          <a:xfrm>
            <a:off x="1042416" y="1444752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Confere se já foi enviada</a:t>
            </a:r>
            <a:endParaRPr lang="pt-BR" sz="1400" dirty="0"/>
          </a:p>
        </p:txBody>
      </p:sp>
      <p:sp>
        <p:nvSpPr>
          <p:cNvPr id="7" name="texto-253"/>
          <p:cNvSpPr txBox="1"/>
          <p:nvPr/>
        </p:nvSpPr>
        <p:spPr>
          <a:xfrm>
            <a:off x="1042416" y="1719072"/>
            <a:ext cx="5815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Busca o cliente nos e-mails enviados: pasta repetida não sai de novo.</a:t>
            </a:r>
            <a:endParaRPr lang="pt-BR" sz="1250" dirty="0"/>
          </a:p>
        </p:txBody>
      </p:sp>
      <p:sp>
        <p:nvSpPr>
          <p:cNvPr id="8" name="passo-254"/>
          <p:cNvSpPr/>
          <p:nvPr/>
        </p:nvSpPr>
        <p:spPr>
          <a:xfrm>
            <a:off x="548640" y="224942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o-255"/>
          <p:cNvSpPr txBox="1"/>
          <p:nvPr/>
        </p:nvSpPr>
        <p:spPr>
          <a:xfrm>
            <a:off x="54864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2</a:t>
            </a:r>
            <a:endParaRPr lang="pt-BR" sz="1300" dirty="0"/>
          </a:p>
        </p:txBody>
      </p:sp>
      <p:sp>
        <p:nvSpPr>
          <p:cNvPr id="10" name="texto-256"/>
          <p:cNvSpPr txBox="1"/>
          <p:nvPr/>
        </p:nvSpPr>
        <p:spPr>
          <a:xfrm>
            <a:off x="1042416" y="2231136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Limpa a pasta</a:t>
            </a:r>
            <a:endParaRPr lang="pt-BR" sz="1400" dirty="0"/>
          </a:p>
        </p:txBody>
      </p:sp>
      <p:sp>
        <p:nvSpPr>
          <p:cNvPr id="11" name="texto-257"/>
          <p:cNvSpPr txBox="1"/>
          <p:nvPr/>
        </p:nvSpPr>
        <p:spPr>
          <a:xfrm>
            <a:off x="1042416" y="2505456"/>
            <a:ext cx="5815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Tira as procurações específicas (Curitiba, Taynara) antes do ZIP — ficam na lixeira de 30 dias.</a:t>
            </a:r>
            <a:endParaRPr lang="pt-BR" sz="1250" dirty="0"/>
          </a:p>
        </p:txBody>
      </p:sp>
      <p:sp>
        <p:nvSpPr>
          <p:cNvPr id="12" name="passo-258"/>
          <p:cNvSpPr/>
          <p:nvPr/>
        </p:nvSpPr>
        <p:spPr>
          <a:xfrm>
            <a:off x="548640" y="30358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o-259"/>
          <p:cNvSpPr txBox="1"/>
          <p:nvPr/>
        </p:nvSpPr>
        <p:spPr>
          <a:xfrm>
            <a:off x="54864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3</a:t>
            </a:r>
            <a:endParaRPr lang="pt-BR" sz="1300" dirty="0"/>
          </a:p>
        </p:txBody>
      </p:sp>
      <p:sp>
        <p:nvSpPr>
          <p:cNvPr id="14" name="texto-260"/>
          <p:cNvSpPr txBox="1"/>
          <p:nvPr/>
        </p:nvSpPr>
        <p:spPr>
          <a:xfrm>
            <a:off x="1042416" y="3017520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Baixa o ZIP e monta o e-mail</a:t>
            </a:r>
            <a:endParaRPr lang="pt-BR" sz="1400" dirty="0"/>
          </a:p>
        </p:txBody>
      </p:sp>
      <p:sp>
        <p:nvSpPr>
          <p:cNvPr id="15" name="texto-261"/>
          <p:cNvSpPr txBox="1"/>
          <p:nvPr/>
        </p:nvSpPr>
        <p:spPr>
          <a:xfrm>
            <a:off x="1042416" y="3291840"/>
            <a:ext cx="5815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Para a Uni Indeniza, assunto "AUXILIO ACIDENTE: nome". Acima de 25 MB vai por link do Drive.</a:t>
            </a:r>
            <a:endParaRPr lang="pt-BR" sz="1250" dirty="0"/>
          </a:p>
        </p:txBody>
      </p:sp>
      <p:sp>
        <p:nvSpPr>
          <p:cNvPr id="16" name="passo-262"/>
          <p:cNvSpPr/>
          <p:nvPr/>
        </p:nvSpPr>
        <p:spPr>
          <a:xfrm>
            <a:off x="548640" y="382219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-263"/>
          <p:cNvSpPr txBox="1"/>
          <p:nvPr/>
        </p:nvSpPr>
        <p:spPr>
          <a:xfrm>
            <a:off x="548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4</a:t>
            </a:r>
            <a:endParaRPr lang="pt-BR" sz="1300" dirty="0"/>
          </a:p>
        </p:txBody>
      </p:sp>
      <p:sp>
        <p:nvSpPr>
          <p:cNvPr id="18" name="texto-264"/>
          <p:cNvSpPr txBox="1"/>
          <p:nvPr/>
        </p:nvSpPr>
        <p:spPr>
          <a:xfrm>
            <a:off x="1042416" y="3803904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Envia com a confirmação do operador</a:t>
            </a:r>
            <a:endParaRPr lang="pt-BR" sz="1400" dirty="0"/>
          </a:p>
        </p:txBody>
      </p:sp>
      <p:sp>
        <p:nvSpPr>
          <p:cNvPr id="19" name="texto-265"/>
          <p:cNvSpPr txBox="1"/>
          <p:nvPr/>
        </p:nvSpPr>
        <p:spPr>
          <a:xfrm>
            <a:off x="1042416" y="4078224"/>
            <a:ext cx="5815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Antes de cada envio ou só no primeiro do lote: quem decide é o operador.</a:t>
            </a:r>
            <a:endParaRPr lang="pt-BR" sz="1250" dirty="0"/>
          </a:p>
        </p:txBody>
      </p:sp>
      <p:sp>
        <p:nvSpPr>
          <p:cNvPr id="20" name="passo-266"/>
          <p:cNvSpPr/>
          <p:nvPr/>
        </p:nvSpPr>
        <p:spPr>
          <a:xfrm>
            <a:off x="548640" y="46085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o-267"/>
          <p:cNvSpPr txBox="1"/>
          <p:nvPr/>
        </p:nvSpPr>
        <p:spPr>
          <a:xfrm>
            <a:off x="548640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5</a:t>
            </a:r>
            <a:endParaRPr lang="pt-BR" sz="1300" dirty="0"/>
          </a:p>
        </p:txBody>
      </p:sp>
      <p:sp>
        <p:nvSpPr>
          <p:cNvPr id="22" name="texto-268"/>
          <p:cNvSpPr txBox="1"/>
          <p:nvPr/>
        </p:nvSpPr>
        <p:spPr>
          <a:xfrm>
            <a:off x="1042416" y="4590288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Move o card e lança na planilha</a:t>
            </a:r>
            <a:endParaRPr lang="pt-BR" sz="1400" dirty="0"/>
          </a:p>
        </p:txBody>
      </p:sp>
      <p:sp>
        <p:nvSpPr>
          <p:cNvPr id="23" name="texto-269"/>
          <p:cNvSpPr txBox="1"/>
          <p:nvPr/>
        </p:nvSpPr>
        <p:spPr>
          <a:xfrm>
            <a:off x="1042416" y="4864608"/>
            <a:ext cx="5815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Card para ENVIADOS P/ UNI e linha na SP CONTRATOS (aba UNI PASTAS).</a:t>
            </a:r>
            <a:endParaRPr lang="pt-BR" sz="1250" dirty="0"/>
          </a:p>
        </p:txBody>
      </p:sp>
      <p:sp>
        <p:nvSpPr>
          <p:cNvPr id="24" name="passo-270"/>
          <p:cNvSpPr/>
          <p:nvPr/>
        </p:nvSpPr>
        <p:spPr>
          <a:xfrm>
            <a:off x="548640" y="53949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o-271"/>
          <p:cNvSpPr txBox="1"/>
          <p:nvPr/>
        </p:nvSpPr>
        <p:spPr>
          <a:xfrm>
            <a:off x="54864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6</a:t>
            </a:r>
            <a:endParaRPr lang="pt-BR" sz="1300" dirty="0"/>
          </a:p>
        </p:txBody>
      </p:sp>
      <p:sp>
        <p:nvSpPr>
          <p:cNvPr id="26" name="texto-272"/>
          <p:cNvSpPr txBox="1"/>
          <p:nvPr/>
        </p:nvSpPr>
        <p:spPr>
          <a:xfrm>
            <a:off x="1042416" y="5376672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Relatório do lote</a:t>
            </a:r>
            <a:endParaRPr lang="pt-BR" sz="1400" dirty="0"/>
          </a:p>
        </p:txBody>
      </p:sp>
      <p:sp>
        <p:nvSpPr>
          <p:cNvPr id="27" name="texto-273"/>
          <p:cNvSpPr txBox="1"/>
          <p:nvPr/>
        </p:nvSpPr>
        <p:spPr>
          <a:xfrm>
            <a:off x="1042416" y="5650992"/>
            <a:ext cx="5815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Quem foi enviado, o que foi movido e lançado e o que sobrou na coluna.</a:t>
            </a:r>
            <a:endParaRPr lang="pt-BR" sz="1250" dirty="0"/>
          </a:p>
        </p:txBody>
      </p:sp>
      <p:sp>
        <p:nvSpPr>
          <p:cNvPr id="28" name="cartao-274"/>
          <p:cNvSpPr/>
          <p:nvPr/>
        </p:nvSpPr>
        <p:spPr>
          <a:xfrm>
            <a:off x="7132320" y="1463040"/>
            <a:ext cx="4507992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/>
        </p:spPr>
      </p:sp>
      <p:sp>
        <p:nvSpPr>
          <p:cNvPr id="29" name="texto-275"/>
          <p:cNvSpPr txBox="1"/>
          <p:nvPr/>
        </p:nvSpPr>
        <p:spPr>
          <a:xfrm>
            <a:off x="7132320" y="15544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4600" b="1" dirty="0">
                <a:solidFill>
                  <a:schemeClr val="accent3"/>
                </a:solidFill>
              </a:rPr>
              <a:t>~100</a:t>
            </a:r>
            <a:endParaRPr lang="pt-BR" sz="4600" dirty="0"/>
          </a:p>
        </p:txBody>
      </p:sp>
      <p:sp>
        <p:nvSpPr>
          <p:cNvPr id="30" name="texto-276"/>
          <p:cNvSpPr txBox="1"/>
          <p:nvPr/>
        </p:nvSpPr>
        <p:spPr>
          <a:xfrm>
            <a:off x="7315200" y="233172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altLang="en-US" sz="1200" dirty="0">
                <a:solidFill>
                  <a:schemeClr val="bg1"/>
                </a:solidFill>
              </a:rPr>
              <a:t>pastas por mês (equipe toda) saem da REVISÃO PRÉ-PASTA para a UNI/CCS</a:t>
            </a:r>
            <a:endParaRPr lang="pt-BR" sz="1200" dirty="0"/>
          </a:p>
          <a:p>
            <a:pPr algn="ctr" indent="0" marL="0">
              <a:buNone/>
            </a:pPr>
            <a:r>
              <a:rPr lang="pt-BR" altLang="en-US" sz="1200" dirty="0">
                <a:solidFill>
                  <a:schemeClr val="bg1"/>
                </a:solidFill>
              </a:rPr>
              <a:t>média dos últimos 90 dias no kanban</a:t>
            </a:r>
            <a:endParaRPr lang="pt-BR" sz="1200" dirty="0"/>
          </a:p>
        </p:txBody>
      </p:sp>
      <p:sp>
        <p:nvSpPr>
          <p:cNvPr id="31" name="cartao-277"/>
          <p:cNvSpPr/>
          <p:nvPr/>
        </p:nvSpPr>
        <p:spPr>
          <a:xfrm>
            <a:off x="7132320" y="3337560"/>
            <a:ext cx="450799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2" name="texto-278"/>
          <p:cNvSpPr txBox="1"/>
          <p:nvPr/>
        </p:nvSpPr>
        <p:spPr>
          <a:xfrm>
            <a:off x="7333488" y="3502152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A volta da UNI também</a:t>
            </a:r>
            <a:endParaRPr lang="pt-BR" sz="1600" dirty="0"/>
          </a:p>
        </p:txBody>
      </p:sp>
      <p:sp>
        <p:nvSpPr>
          <p:cNvPr id="33" name="texto-279"/>
          <p:cNvSpPr txBox="1"/>
          <p:nvPr/>
        </p:nvSpPr>
        <p:spPr>
          <a:xfrm>
            <a:off x="7333488" y="3849624"/>
            <a:ext cx="4105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A planilha mensal de análise da UNI é conferida contra os Arquivados e cada card recebe o comentário certo — </a:t>
            </a:r>
            <a:r>
              <a:rPr lang="pt-BR" altLang="en-US" sz="1250" b="1" dirty="0">
                <a:solidFill>
                  <a:schemeClr val="tx1"/>
                </a:solidFill>
              </a:rPr>
              <a:t>APTO [data] UNI</a:t>
            </a:r>
            <a:r>
              <a:rPr lang="pt-BR" altLang="en-US" sz="1250" dirty="0">
                <a:solidFill>
                  <a:schemeClr val="tx1"/>
                </a:solidFill>
              </a:rPr>
              <a:t>, pendência ou "sem perfil" — só onde falta. Vale para a CCS.</a:t>
            </a:r>
            <a:endParaRPr lang="pt-BR" sz="1250" dirty="0"/>
          </a:p>
        </p:txBody>
      </p:sp>
      <p:sp>
        <p:nvSpPr>
          <p:cNvPr id="34" name="cartao-280"/>
          <p:cNvSpPr/>
          <p:nvPr/>
        </p:nvSpPr>
        <p:spPr>
          <a:xfrm>
            <a:off x="7132320" y="5120640"/>
            <a:ext cx="450799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5" name="texto-281"/>
          <p:cNvSpPr txBox="1"/>
          <p:nvPr/>
        </p:nvSpPr>
        <p:spPr>
          <a:xfrm>
            <a:off x="7333488" y="5285232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Pelo navegador</a:t>
            </a:r>
            <a:endParaRPr lang="pt-BR" sz="1600" dirty="0"/>
          </a:p>
        </p:txBody>
      </p:sp>
      <p:sp>
        <p:nvSpPr>
          <p:cNvPr id="36" name="texto-282"/>
          <p:cNvSpPr txBox="1"/>
          <p:nvPr/>
        </p:nvSpPr>
        <p:spPr>
          <a:xfrm>
            <a:off x="7333488" y="5632704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Roda no Claude in Chrome, uma tarefa por card. Antes: 6 passos em 3 sistemas (CRM, Gmail, planilha).</a:t>
            </a:r>
            <a:endParaRPr lang="pt-B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NOVO · MAIS RÁPIDO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Menos espera: </a:t>
            </a:r>
            <a:r>
              <a:rPr lang="en-US" sz="3000" b="1" dirty="0">
                <a:solidFill>
                  <a:schemeClr val="accent2"/>
                </a:solidFill>
              </a:rPr>
              <a:t>menos chamadas e trabalho em segundo plano</a:t>
            </a:r>
            <a:endParaRPr lang="en-US" sz="3000" dirty="0"/>
          </a:p>
        </p:txBody>
      </p:sp>
      <p:sp>
        <p:nvSpPr>
          <p:cNvPr id="4" name="cartao-283"/>
          <p:cNvSpPr/>
          <p:nvPr/>
        </p:nvSpPr>
        <p:spPr>
          <a:xfrm>
            <a:off x="548640" y="1463040"/>
            <a:ext cx="57607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5" name="texto-284"/>
          <p:cNvSpPr txBox="1"/>
          <p:nvPr/>
        </p:nvSpPr>
        <p:spPr>
          <a:xfrm>
            <a:off x="749808" y="16002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Menos idas ao CRM</a:t>
            </a:r>
            <a:endParaRPr lang="pt-BR" sz="1600" dirty="0"/>
          </a:p>
        </p:txBody>
      </p:sp>
      <p:graphicFrame>
        <p:nvGraphicFramePr>
          <p:cNvPr id="12" name="tabela-rapide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011680"/>
          <a:ext cx="5349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1508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PEDIDO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ANTES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AGORA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/processo de um card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4–5 chamadas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1 (panorama)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/pendencias de uma coluna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31 chamadas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progresso do /prontuario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+6 a 9 chamadas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0 (automático)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ação no kanban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prévia + "sim" + clique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1 chamada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o-285"/>
          <p:cNvSpPr txBox="1"/>
          <p:nvPr/>
        </p:nvSpPr>
        <p:spPr>
          <a:xfrm>
            <a:off x="749808" y="3931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dirty="0">
                <a:solidFill>
                  <a:schemeClr val="tx2"/>
                </a:solidFill>
              </a:rPr>
              <a:t>Também: o prompt não espera mais o registro, respostas ~25% menores, cache de 5 min dos hospitais e ferramenta recém-ligada aparece sem reiniciar o app.</a:t>
            </a:r>
            <a:endParaRPr lang="pt-BR" sz="1200" dirty="0"/>
          </a:p>
        </p:txBody>
      </p:sp>
      <p:sp>
        <p:nvSpPr>
          <p:cNvPr id="8" name="cartao-286"/>
          <p:cNvSpPr/>
          <p:nvPr/>
        </p:nvSpPr>
        <p:spPr>
          <a:xfrm>
            <a:off x="6583680" y="1463040"/>
            <a:ext cx="5056632" cy="3520440"/>
          </a:xfrm>
          <a:prstGeom prst="roundRect">
            <a:avLst>
              <a:gd name="adj" fmla="val 3117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9" name="texto-287"/>
          <p:cNvSpPr txBox="1"/>
          <p:nvPr/>
        </p:nvSpPr>
        <p:spPr>
          <a:xfrm>
            <a:off x="6784848" y="1600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Lotes grandes em segundo plano</a:t>
            </a:r>
            <a:endParaRPr lang="pt-BR" sz="1600" dirty="0"/>
          </a:p>
        </p:txBody>
      </p:sp>
      <p:sp>
        <p:nvSpPr>
          <p:cNvPr id="10" name="passo-288"/>
          <p:cNvSpPr/>
          <p:nvPr/>
        </p:nvSpPr>
        <p:spPr>
          <a:xfrm>
            <a:off x="6784848" y="205740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o-289"/>
          <p:cNvSpPr txBox="1"/>
          <p:nvPr/>
        </p:nvSpPr>
        <p:spPr>
          <a:xfrm>
            <a:off x="678484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1</a:t>
            </a:r>
            <a:endParaRPr lang="pt-BR" sz="1300" dirty="0"/>
          </a:p>
        </p:txBody>
      </p:sp>
      <p:sp>
        <p:nvSpPr>
          <p:cNvPr id="12" name="texto-290"/>
          <p:cNvSpPr txBox="1"/>
          <p:nvPr/>
        </p:nvSpPr>
        <p:spPr>
          <a:xfrm>
            <a:off x="7278624" y="203911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Pedido grande</a:t>
            </a:r>
            <a:endParaRPr lang="pt-BR" sz="1400" dirty="0"/>
          </a:p>
        </p:txBody>
      </p:sp>
      <p:sp>
        <p:nvSpPr>
          <p:cNvPr id="13" name="texto-291"/>
          <p:cNvSpPr txBox="1"/>
          <p:nvPr/>
        </p:nvSpPr>
        <p:spPr>
          <a:xfrm>
            <a:off x="7278624" y="231343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Ex.: ler os documentos de 30 cards.</a:t>
            </a:r>
            <a:endParaRPr lang="pt-BR" sz="1250" dirty="0"/>
          </a:p>
        </p:txBody>
      </p:sp>
      <p:sp>
        <p:nvSpPr>
          <p:cNvPr id="14" name="passo-292"/>
          <p:cNvSpPr/>
          <p:nvPr/>
        </p:nvSpPr>
        <p:spPr>
          <a:xfrm>
            <a:off x="6784848" y="283464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texto-293"/>
          <p:cNvSpPr txBox="1"/>
          <p:nvPr/>
        </p:nvSpPr>
        <p:spPr>
          <a:xfrm>
            <a:off x="678484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2</a:t>
            </a:r>
            <a:endParaRPr lang="pt-BR" sz="1300" dirty="0"/>
          </a:p>
        </p:txBody>
      </p:sp>
      <p:sp>
        <p:nvSpPr>
          <p:cNvPr id="16" name="texto-294"/>
          <p:cNvSpPr txBox="1"/>
          <p:nvPr/>
        </p:nvSpPr>
        <p:spPr>
          <a:xfrm>
            <a:off x="7278624" y="281635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A IA abre um lote e responde na hora</a:t>
            </a:r>
            <a:endParaRPr lang="pt-BR" sz="1400" dirty="0"/>
          </a:p>
        </p:txBody>
      </p:sp>
      <p:sp>
        <p:nvSpPr>
          <p:cNvPr id="17" name="texto-295"/>
          <p:cNvSpPr txBox="1"/>
          <p:nvPr/>
        </p:nvSpPr>
        <p:spPr>
          <a:xfrm>
            <a:off x="7278624" y="309067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O 1º card sai na hora; o resto roda no servidor a cada 5 min.</a:t>
            </a:r>
            <a:endParaRPr lang="pt-BR" sz="1250" dirty="0"/>
          </a:p>
        </p:txBody>
      </p:sp>
      <p:sp>
        <p:nvSpPr>
          <p:cNvPr id="18" name="passo-296"/>
          <p:cNvSpPr/>
          <p:nvPr/>
        </p:nvSpPr>
        <p:spPr>
          <a:xfrm>
            <a:off x="6784848" y="361188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o-297"/>
          <p:cNvSpPr txBox="1"/>
          <p:nvPr/>
        </p:nvSpPr>
        <p:spPr>
          <a:xfrm>
            <a:off x="6784848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3</a:t>
            </a:r>
            <a:endParaRPr lang="pt-BR" sz="1300" dirty="0"/>
          </a:p>
        </p:txBody>
      </p:sp>
      <p:sp>
        <p:nvSpPr>
          <p:cNvPr id="20" name="texto-298"/>
          <p:cNvSpPr txBox="1"/>
          <p:nvPr/>
        </p:nvSpPr>
        <p:spPr>
          <a:xfrm>
            <a:off x="7278624" y="35935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400" b="1" dirty="0">
                <a:solidFill>
                  <a:schemeClr val="tx1"/>
                </a:solidFill>
              </a:rPr>
              <a:t>Resultado quando quiser</a:t>
            </a:r>
            <a:endParaRPr lang="pt-BR" sz="1400" dirty="0"/>
          </a:p>
        </p:txBody>
      </p:sp>
      <p:sp>
        <p:nvSpPr>
          <p:cNvPr id="21" name="texto-299"/>
          <p:cNvSpPr txBox="1"/>
          <p:nvPr/>
        </p:nvSpPr>
        <p:spPr>
          <a:xfrm>
            <a:off x="7278624" y="386791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"resultado do lote" ou no próximo /meu-dia.</a:t>
            </a:r>
            <a:endParaRPr lang="pt-BR" sz="1250" dirty="0"/>
          </a:p>
        </p:txBody>
      </p:sp>
      <p:sp>
        <p:nvSpPr>
          <p:cNvPr id="22" name="texto-300"/>
          <p:cNvSpPr txBox="1"/>
          <p:nvPr/>
        </p:nvSpPr>
        <p:spPr>
          <a:xfrm>
            <a:off x="6784848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dirty="0">
                <a:solidFill>
                  <a:schemeClr val="tx2"/>
                </a:solidFill>
              </a:rPr>
              <a:t>Até 3 cards: direto e em paralelo. De 4 em diante: lote. Resultados guardados por 30 dias.</a:t>
            </a:r>
            <a:endParaRPr lang="pt-BR" sz="1200" dirty="0"/>
          </a:p>
        </p:txBody>
      </p:sp>
      <p:sp>
        <p:nvSpPr>
          <p:cNvPr id="23" name="cartao-301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DCDFE5"/>
            </a:solidFill>
            <a:prstDash val="solid"/>
          </a:ln>
        </p:spPr>
      </p:sp>
      <p:sp>
        <p:nvSpPr>
          <p:cNvPr id="24" name="cartao-302"/>
          <p:cNvSpPr/>
          <p:nvPr/>
        </p:nvSpPr>
        <p:spPr>
          <a:xfrm>
            <a:off x="731520" y="5413248"/>
            <a:ext cx="4206240" cy="512064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25" name="texto-303"/>
          <p:cNvSpPr txBox="1"/>
          <p:nvPr/>
        </p:nvSpPr>
        <p:spPr>
          <a:xfrm>
            <a:off x="86868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/documentos da coluna COM SENHA - SOLICITADO</a:t>
            </a:r>
            <a:endParaRPr lang="pt-BR" sz="1250" dirty="0"/>
          </a:p>
        </p:txBody>
      </p:sp>
      <p:sp>
        <p:nvSpPr>
          <p:cNvPr id="26" name="texto-304"/>
          <p:cNvSpPr txBox="1"/>
          <p:nvPr/>
        </p:nvSpPr>
        <p:spPr>
          <a:xfrm>
            <a:off x="5029200" y="541324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000" dirty="0">
                <a:solidFill>
                  <a:schemeClr val="tx2"/>
                </a:solidFill>
              </a:rPr>
              <a:t>→</a:t>
            </a:r>
            <a:endParaRPr lang="pt-BR" sz="2000" dirty="0"/>
          </a:p>
        </p:txBody>
      </p:sp>
      <p:sp>
        <p:nvSpPr>
          <p:cNvPr id="27" name="cartao-305"/>
          <p:cNvSpPr/>
          <p:nvPr/>
        </p:nvSpPr>
        <p:spPr>
          <a:xfrm>
            <a:off x="5486400" y="5413248"/>
            <a:ext cx="59893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28" name="texto-306"/>
          <p:cNvSpPr txBox="1"/>
          <p:nvPr/>
        </p:nvSpPr>
        <p:spPr>
          <a:xfrm>
            <a:off x="5623560" y="548640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Lote aberto: </a:t>
            </a:r>
            <a:r>
              <a:rPr lang="pt-BR" altLang="en-US" sz="1250" b="1" dirty="0">
                <a:solidFill>
                  <a:schemeClr val="tx1"/>
                </a:solidFill>
              </a:rPr>
              <a:t>1º card pronto</a:t>
            </a:r>
            <a:r>
              <a:rPr lang="pt-BR" altLang="en-US" sz="1250" dirty="0">
                <a:solidFill>
                  <a:schemeClr val="tx1"/>
                </a:solidFill>
              </a:rPr>
              <a:t>, o resto em segundo plano. O resultado completo aparece no seu </a:t>
            </a:r>
            <a:r>
              <a:rPr lang="pt-BR" altLang="en-US" sz="1250" b="1" dirty="0">
                <a:solidFill>
                  <a:schemeClr val="tx1"/>
                </a:solidFill>
              </a:rPr>
              <a:t>/meu-dia</a:t>
            </a:r>
            <a:r>
              <a:rPr lang="pt-BR" altLang="en-US" sz="1250" dirty="0">
                <a:solidFill>
                  <a:schemeClr val="tx1"/>
                </a:solidFill>
              </a:rPr>
              <a:t>.</a:t>
            </a:r>
            <a:endParaRPr lang="pt-B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ACOMPANHAMENTO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Espaço de Trabalho → IA de operação: </a:t>
            </a:r>
            <a:r>
              <a:rPr lang="en-US" sz="3000" b="1" dirty="0">
                <a:solidFill>
                  <a:schemeClr val="accent2"/>
                </a:solidFill>
              </a:rPr>
              <a:t>o que a IA produziu</a:t>
            </a:r>
            <a:endParaRPr lang="en-US" sz="3000" dirty="0"/>
          </a:p>
        </p:txBody>
      </p:sp>
      <p:sp>
        <p:nvSpPr>
          <p:cNvPr id="4" name="cartao-307"/>
          <p:cNvSpPr/>
          <p:nvPr/>
        </p:nvSpPr>
        <p:spPr>
          <a:xfrm>
            <a:off x="548640" y="1463040"/>
            <a:ext cx="5943600" cy="1463040"/>
          </a:xfrm>
          <a:prstGeom prst="roundRect">
            <a:avLst>
              <a:gd name="adj" fmla="val 7500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5" name="texto-308"/>
          <p:cNvSpPr txBox="1"/>
          <p:nvPr/>
        </p:nvSpPr>
        <p:spPr>
          <a:xfrm>
            <a:off x="749808" y="1627632"/>
            <a:ext cx="554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Rendimento por pessoa</a:t>
            </a:r>
            <a:endParaRPr lang="pt-BR" sz="1600" dirty="0"/>
          </a:p>
        </p:txBody>
      </p:sp>
      <p:sp>
        <p:nvSpPr>
          <p:cNvPr id="6" name="texto-309"/>
          <p:cNvSpPr txBox="1"/>
          <p:nvPr/>
        </p:nvSpPr>
        <p:spPr>
          <a:xfrm>
            <a:off x="749808" y="1975104"/>
            <a:ext cx="5541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Entregas do período (documentos, envios, cards), </a:t>
            </a:r>
            <a:r>
              <a:rPr lang="pt-BR" altLang="en-US" sz="1300" b="1" dirty="0">
                <a:solidFill>
                  <a:schemeClr val="tx1"/>
                </a:solidFill>
              </a:rPr>
              <a:t>tempo economizado</a:t>
            </a:r>
            <a:r>
              <a:rPr lang="pt-BR" altLang="en-US" sz="1300" dirty="0">
                <a:solidFill>
                  <a:schemeClr val="tx1"/>
                </a:solidFill>
              </a:rPr>
              <a:t>, meta de </a:t>
            </a:r>
            <a:r>
              <a:rPr lang="pt-BR" altLang="en-US" sz="1300" b="1" dirty="0">
                <a:solidFill>
                  <a:schemeClr val="tx1"/>
                </a:solidFill>
              </a:rPr>
              <a:t>60 entregas por semana</a:t>
            </a:r>
            <a:r>
              <a:rPr lang="pt-BR" altLang="en-US" sz="1300" dirty="0">
                <a:solidFill>
                  <a:schemeClr val="tx1"/>
                </a:solidFill>
              </a:rPr>
              <a:t> e quem está </a:t>
            </a:r>
            <a:r>
              <a:rPr lang="pt-BR" altLang="en-US" sz="1300" b="1" dirty="0">
                <a:solidFill>
                  <a:schemeClr val="tx1"/>
                </a:solidFill>
              </a:rPr>
              <a:t>usando agora</a:t>
            </a:r>
            <a:r>
              <a:rPr lang="pt-BR" altLang="en-US" sz="1300" dirty="0">
                <a:solidFill>
                  <a:schemeClr val="tx1"/>
                </a:solidFill>
              </a:rPr>
              <a:t>. O gestor vê a equipe; cada um vê o próprio painel.</a:t>
            </a:r>
            <a:endParaRPr lang="pt-BR" sz="1300" dirty="0"/>
          </a:p>
        </p:txBody>
      </p:sp>
      <p:sp>
        <p:nvSpPr>
          <p:cNvPr id="7" name="cartao-310"/>
          <p:cNvSpPr/>
          <p:nvPr/>
        </p:nvSpPr>
        <p:spPr>
          <a:xfrm>
            <a:off x="548640" y="3063240"/>
            <a:ext cx="5943600" cy="1371600"/>
          </a:xfrm>
          <a:prstGeom prst="roundRect">
            <a:avLst>
              <a:gd name="adj" fmla="val 8000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8" name="texto-311"/>
          <p:cNvSpPr txBox="1"/>
          <p:nvPr/>
        </p:nvSpPr>
        <p:spPr>
          <a:xfrm>
            <a:off x="749808" y="3227832"/>
            <a:ext cx="554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Ler o chat inteiro</a:t>
            </a:r>
            <a:endParaRPr lang="pt-BR" sz="1600" dirty="0"/>
          </a:p>
        </p:txBody>
      </p:sp>
      <p:sp>
        <p:nvSpPr>
          <p:cNvPr id="9" name="texto-312"/>
          <p:cNvSpPr txBox="1"/>
          <p:nvPr/>
        </p:nvSpPr>
        <p:spPr>
          <a:xfrm>
            <a:off x="749808" y="3575304"/>
            <a:ext cx="5541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Chats ativos e fechados (fecha após 30 min parado): pedido → ações → resposta da IA. O gestor lê qualquer um; cada operador, só os seus.</a:t>
            </a:r>
            <a:endParaRPr lang="pt-BR" sz="1300" dirty="0"/>
          </a:p>
        </p:txBody>
      </p:sp>
      <p:sp>
        <p:nvSpPr>
          <p:cNvPr id="10" name="cartao-313"/>
          <p:cNvSpPr/>
          <p:nvPr/>
        </p:nvSpPr>
        <p:spPr>
          <a:xfrm>
            <a:off x="548640" y="4572000"/>
            <a:ext cx="5943600" cy="1554480"/>
          </a:xfrm>
          <a:prstGeom prst="roundRect">
            <a:avLst>
              <a:gd name="adj" fmla="val 7059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1" name="texto-314"/>
          <p:cNvSpPr txBox="1"/>
          <p:nvPr/>
        </p:nvSpPr>
        <p:spPr>
          <a:xfrm>
            <a:off x="749808" y="4736592"/>
            <a:ext cx="554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Precisa de atenção</a:t>
            </a:r>
            <a:endParaRPr lang="pt-BR" sz="1600" dirty="0"/>
          </a:p>
        </p:txBody>
      </p:sp>
      <p:sp>
        <p:nvSpPr>
          <p:cNvPr id="12" name="texto-315"/>
          <p:cNvSpPr txBox="1"/>
          <p:nvPr/>
        </p:nvSpPr>
        <p:spPr>
          <a:xfrm>
            <a:off x="749808" y="5084064"/>
            <a:ext cx="5541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Falhas, envios expirados, fluxos parados — e o que foi </a:t>
            </a:r>
            <a:r>
              <a:rPr lang="pt-BR" altLang="en-US" sz="1300" b="1" dirty="0">
                <a:solidFill>
                  <a:schemeClr val="tx1"/>
                </a:solidFill>
              </a:rPr>
              <a:t>ignorado</a:t>
            </a:r>
            <a:r>
              <a:rPr lang="pt-BR" altLang="en-US" sz="1300" dirty="0">
                <a:solidFill>
                  <a:schemeClr val="tx1"/>
                </a:solidFill>
              </a:rPr>
              <a:t>: prévia sem OK, envio apesar do aviso, cards pulados. Também em /auditoria-operacao e /meu-rendimento.</a:t>
            </a:r>
            <a:endParaRPr lang="pt-BR" sz="1300" dirty="0"/>
          </a:p>
        </p:txBody>
      </p:sp>
      <p:sp>
        <p:nvSpPr>
          <p:cNvPr id="13" name="cartao-316"/>
          <p:cNvSpPr/>
          <p:nvPr/>
        </p:nvSpPr>
        <p:spPr>
          <a:xfrm>
            <a:off x="6766560" y="1463040"/>
            <a:ext cx="48737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4" name="texto-317"/>
          <p:cNvSpPr txBox="1"/>
          <p:nvPr/>
        </p:nvSpPr>
        <p:spPr>
          <a:xfrm>
            <a:off x="6967728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Como o tempo economizado é contado</a:t>
            </a:r>
            <a:endParaRPr lang="pt-BR" sz="1600" dirty="0"/>
          </a:p>
        </p:txBody>
      </p:sp>
      <p:graphicFrame>
        <p:nvGraphicFramePr>
          <p:cNvPr id="13" name="tabela-minu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7728" y="2011680"/>
          <a:ext cx="44805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ENTREGA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MIN</a:t>
                      </a:r>
                      <a:endParaRPr lang="en-US" sz="10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Pedido de prontuário · Contrato (KIT)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Procuração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E-mail enviado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Card com documentos lidos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Cadastro corrigido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WhatsApp enviado · Consulta respondida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Comentário e aviso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Card movido · Tags, arquivos, tarefas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o-318"/>
          <p:cNvSpPr txBox="1"/>
          <p:nvPr/>
        </p:nvSpPr>
        <p:spPr>
          <a:xfrm>
            <a:off x="6967728" y="5349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150" dirty="0">
                <a:solidFill>
                  <a:schemeClr val="tx2"/>
                </a:solidFill>
              </a:rPr>
              <a:t>Documento conta 1 por card por dia; envio em lote conta cada cliente. Os minutos são ajustáveis.</a:t>
            </a:r>
            <a:endParaRPr lang="pt-B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SEGURANÇA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Rápido, mas com travas </a:t>
            </a:r>
            <a:r>
              <a:rPr lang="en-US" sz="3000" b="1" dirty="0">
                <a:solidFill>
                  <a:schemeClr val="accent2"/>
                </a:solidFill>
              </a:rPr>
              <a:t>que o modelo não contorna</a:t>
            </a:r>
            <a:endParaRPr lang="en-US" sz="3000" dirty="0"/>
          </a:p>
        </p:txBody>
      </p:sp>
      <p:sp>
        <p:nvSpPr>
          <p:cNvPr id="4" name="cartao-319"/>
          <p:cNvSpPr/>
          <p:nvPr/>
        </p:nvSpPr>
        <p:spPr>
          <a:xfrm>
            <a:off x="548640" y="146304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icone-320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321"/>
          <p:cNvSpPr txBox="1"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chemeClr val="bg1"/>
                </a:solidFill>
              </a:rPr>
              <a:t>1</a:t>
            </a:r>
            <a:endParaRPr lang="pt-BR" sz="1400" dirty="0"/>
          </a:p>
        </p:txBody>
      </p:sp>
      <p:sp>
        <p:nvSpPr>
          <p:cNvPr id="7" name="texto-322"/>
          <p:cNvSpPr txBox="1"/>
          <p:nvPr/>
        </p:nvSpPr>
        <p:spPr>
          <a:xfrm>
            <a:off x="1261872" y="16916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Crachá pessoal</a:t>
            </a:r>
            <a:endParaRPr lang="pt-BR" sz="1600" dirty="0"/>
          </a:p>
        </p:txBody>
      </p:sp>
      <p:sp>
        <p:nvSpPr>
          <p:cNvPr id="8" name="texto-323"/>
          <p:cNvSpPr txBox="1"/>
          <p:nvPr/>
        </p:nvSpPr>
        <p:spPr>
          <a:xfrm>
            <a:off x="749808" y="219456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Token por pessoa, guardado só como hash e revogável na hora. Tudo sai no nome dela, "(via IA)".</a:t>
            </a:r>
            <a:endParaRPr lang="pt-BR" sz="1300" dirty="0"/>
          </a:p>
        </p:txBody>
      </p:sp>
      <p:sp>
        <p:nvSpPr>
          <p:cNvPr id="9" name="cartao-324"/>
          <p:cNvSpPr/>
          <p:nvPr/>
        </p:nvSpPr>
        <p:spPr>
          <a:xfrm>
            <a:off x="4334256" y="146304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icone-325"/>
          <p:cNvSpPr/>
          <p:nvPr/>
        </p:nvSpPr>
        <p:spPr>
          <a:xfrm>
            <a:off x="4535424" y="166420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o-326"/>
          <p:cNvSpPr txBox="1"/>
          <p:nvPr/>
        </p:nvSpPr>
        <p:spPr>
          <a:xfrm>
            <a:off x="453542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chemeClr val="bg1"/>
                </a:solidFill>
              </a:rPr>
              <a:t>2</a:t>
            </a:r>
            <a:endParaRPr lang="pt-BR" sz="1400" dirty="0"/>
          </a:p>
        </p:txBody>
      </p:sp>
      <p:sp>
        <p:nvSpPr>
          <p:cNvPr id="12" name="texto-327"/>
          <p:cNvSpPr txBox="1"/>
          <p:nvPr/>
        </p:nvSpPr>
        <p:spPr>
          <a:xfrm>
            <a:off x="5047488" y="16916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Permissão do banco</a:t>
            </a:r>
            <a:endParaRPr lang="pt-BR" sz="1600" dirty="0"/>
          </a:p>
        </p:txBody>
      </p:sp>
      <p:sp>
        <p:nvSpPr>
          <p:cNvPr id="13" name="texto-328"/>
          <p:cNvSpPr txBox="1"/>
          <p:nvPr/>
        </p:nvSpPr>
        <p:spPr>
          <a:xfrm>
            <a:off x="4535424" y="219456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Lida a cada chamada. Escrita e envio aprovado liberados para a equipe; "somente dashboard" não usa a IA.</a:t>
            </a:r>
            <a:endParaRPr lang="pt-BR" sz="1300" dirty="0"/>
          </a:p>
        </p:txBody>
      </p:sp>
      <p:sp>
        <p:nvSpPr>
          <p:cNvPr id="14" name="cartao-329"/>
          <p:cNvSpPr/>
          <p:nvPr/>
        </p:nvSpPr>
        <p:spPr>
          <a:xfrm>
            <a:off x="8119872" y="146304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icone-330"/>
          <p:cNvSpPr/>
          <p:nvPr/>
        </p:nvSpPr>
        <p:spPr>
          <a:xfrm>
            <a:off x="8321040" y="166420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o-331"/>
          <p:cNvSpPr txBox="1"/>
          <p:nvPr/>
        </p:nvSpPr>
        <p:spPr>
          <a:xfrm>
            <a:off x="83210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chemeClr val="bg1"/>
                </a:solidFill>
              </a:rPr>
              <a:t>3</a:t>
            </a:r>
            <a:endParaRPr lang="pt-BR" sz="1400" dirty="0"/>
          </a:p>
        </p:txBody>
      </p:sp>
      <p:sp>
        <p:nvSpPr>
          <p:cNvPr id="17" name="texto-332"/>
          <p:cNvSpPr txBox="1"/>
          <p:nvPr/>
        </p:nvSpPr>
        <p:spPr>
          <a:xfrm>
            <a:off x="8833104" y="16916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Interruptores</a:t>
            </a:r>
            <a:endParaRPr lang="pt-BR" sz="1600" dirty="0"/>
          </a:p>
        </p:txBody>
      </p:sp>
      <p:sp>
        <p:nvSpPr>
          <p:cNvPr id="18" name="texto-333"/>
          <p:cNvSpPr txBox="1"/>
          <p:nvPr/>
        </p:nvSpPr>
        <p:spPr>
          <a:xfrm>
            <a:off x="8321040" y="219456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Cada ação tem liga/desliga; desligar vale em ~15 s para todos. Sem leitura do interruptor, tudo fica desligado.</a:t>
            </a:r>
            <a:endParaRPr lang="pt-BR" sz="1300" dirty="0"/>
          </a:p>
        </p:txBody>
      </p:sp>
      <p:sp>
        <p:nvSpPr>
          <p:cNvPr id="19" name="cartao-334"/>
          <p:cNvSpPr/>
          <p:nvPr/>
        </p:nvSpPr>
        <p:spPr>
          <a:xfrm>
            <a:off x="548640" y="352044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icone-335"/>
          <p:cNvSpPr/>
          <p:nvPr/>
        </p:nvSpPr>
        <p:spPr>
          <a:xfrm>
            <a:off x="749808" y="37216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o-336"/>
          <p:cNvSpPr txBox="1"/>
          <p:nvPr/>
        </p:nvSpPr>
        <p:spPr>
          <a:xfrm>
            <a:off x="74980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chemeClr val="bg1"/>
                </a:solidFill>
              </a:rPr>
              <a:t>4</a:t>
            </a:r>
            <a:endParaRPr lang="pt-BR" sz="1400" dirty="0"/>
          </a:p>
        </p:txBody>
      </p:sp>
      <p:sp>
        <p:nvSpPr>
          <p:cNvPr id="22" name="texto-337"/>
          <p:cNvSpPr txBox="1"/>
          <p:nvPr/>
        </p:nvSpPr>
        <p:spPr>
          <a:xfrm>
            <a:off x="1261872" y="37490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Provado no servidor</a:t>
            </a:r>
            <a:endParaRPr lang="pt-BR" sz="1600" dirty="0"/>
          </a:p>
        </p:txBody>
      </p:sp>
      <p:sp>
        <p:nvSpPr>
          <p:cNvPr id="23" name="texto-338"/>
          <p:cNvSpPr txBox="1"/>
          <p:nvPr/>
        </p:nvSpPr>
        <p:spPr>
          <a:xfrm>
            <a:off x="749808" y="425196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Prévia com impressão digital (hash) e "aprovo &lt;código&gt;" gravado pelo app, não pela IA. Mudou uma vírgula, não envia.</a:t>
            </a:r>
            <a:endParaRPr lang="pt-BR" sz="1300" dirty="0"/>
          </a:p>
        </p:txBody>
      </p:sp>
      <p:sp>
        <p:nvSpPr>
          <p:cNvPr id="24" name="cartao-339"/>
          <p:cNvSpPr/>
          <p:nvPr/>
        </p:nvSpPr>
        <p:spPr>
          <a:xfrm>
            <a:off x="4334256" y="352044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icone-340"/>
          <p:cNvSpPr/>
          <p:nvPr/>
        </p:nvSpPr>
        <p:spPr>
          <a:xfrm>
            <a:off x="4535424" y="372160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o-341"/>
          <p:cNvSpPr txBox="1"/>
          <p:nvPr/>
        </p:nvSpPr>
        <p:spPr>
          <a:xfrm>
            <a:off x="4535424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chemeClr val="bg1"/>
                </a:solidFill>
              </a:rPr>
              <a:t>5</a:t>
            </a:r>
            <a:endParaRPr lang="pt-BR" sz="1400" dirty="0"/>
          </a:p>
        </p:txBody>
      </p:sp>
      <p:sp>
        <p:nvSpPr>
          <p:cNvPr id="27" name="texto-342"/>
          <p:cNvSpPr txBox="1"/>
          <p:nvPr/>
        </p:nvSpPr>
        <p:spPr>
          <a:xfrm>
            <a:off x="5047488" y="37490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Senhas nunca saem</a:t>
            </a:r>
            <a:endParaRPr lang="pt-BR" sz="1600" dirty="0"/>
          </a:p>
        </p:txBody>
      </p:sp>
      <p:sp>
        <p:nvSpPr>
          <p:cNvPr id="28" name="texto-343"/>
          <p:cNvSpPr txBox="1"/>
          <p:nvPr/>
        </p:nvSpPr>
        <p:spPr>
          <a:xfrm>
            <a:off x="4535424" y="425196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Senha e senha do INSS não são lidas — a IA só sabe "tem senha: sim/não".</a:t>
            </a:r>
            <a:endParaRPr lang="pt-BR" sz="1300" dirty="0"/>
          </a:p>
        </p:txBody>
      </p:sp>
      <p:sp>
        <p:nvSpPr>
          <p:cNvPr id="29" name="cartao-344"/>
          <p:cNvSpPr/>
          <p:nvPr/>
        </p:nvSpPr>
        <p:spPr>
          <a:xfrm>
            <a:off x="8119872" y="352044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0" name="icone-345"/>
          <p:cNvSpPr/>
          <p:nvPr/>
        </p:nvSpPr>
        <p:spPr>
          <a:xfrm>
            <a:off x="8321040" y="3721608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1" name="texto-346"/>
          <p:cNvSpPr txBox="1"/>
          <p:nvPr/>
        </p:nvSpPr>
        <p:spPr>
          <a:xfrm>
            <a:off x="83210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chemeClr val="bg1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texto-347"/>
          <p:cNvSpPr txBox="1"/>
          <p:nvPr/>
        </p:nvSpPr>
        <p:spPr>
          <a:xfrm>
            <a:off x="8833104" y="37490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Tudo registrado</a:t>
            </a:r>
            <a:endParaRPr lang="pt-BR" sz="1600" dirty="0"/>
          </a:p>
        </p:txBody>
      </p:sp>
      <p:sp>
        <p:nvSpPr>
          <p:cNvPr id="33" name="texto-348"/>
          <p:cNvSpPr txBox="1"/>
          <p:nvPr/>
        </p:nvSpPr>
        <p:spPr>
          <a:xfrm>
            <a:off x="8321040" y="425196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tx1"/>
                </a:solidFill>
              </a:rPr>
              <a:t>Pedido, ferramentas, resposta e envio: 3 meses no banco, depois backup no S3. "quem_pediu" responde quem pediu cada envio.</a:t>
            </a:r>
            <a:endParaRPr lang="pt-BR" sz="1300" dirty="0"/>
          </a:p>
        </p:txBody>
      </p:sp>
      <p:sp>
        <p:nvSpPr>
          <p:cNvPr id="34" name="texto-34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Na máquina do operador, vigias (hooks) bloqueiam ler o .env, acessar o banco direto e usar o token fora do caminho oficial. Sem o vigia, não há prova do "aprovo" — e nada sai.</a:t>
            </a:r>
            <a:endParaRPr lang="pt-B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QUANTO TEMPO ECONOMIZAMOS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 o volume real de hoje: </a:t>
            </a:r>
            <a:r>
              <a:rPr lang="en-US" sz="3000" b="1" dirty="0">
                <a:solidFill>
                  <a:schemeClr val="accent2"/>
                </a:solidFill>
              </a:rPr>
              <a:t>mais de 100 horas por mês</a:t>
            </a:r>
            <a:endParaRPr lang="en-US" sz="3000" dirty="0"/>
          </a:p>
        </p:txBody>
      </p:sp>
      <p:graphicFrame>
        <p:nvGraphicFramePr>
          <p:cNvPr id="15" name="tabela-econom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4066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914400"/>
                <a:gridCol w="640080"/>
                <a:gridCol w="1005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TAREFA (VOLUME REAL)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POR MÊS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MIN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HORAS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Pedidos de prontuário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entradas em DISTRIBUIÇÃO DE SOLICITAÇÕES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61,0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Procurações e declarações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arquivos novos nessas pastas em COLHER-ASSINATURA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42,8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Conferência de documentos de cliente novo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entradas em COLHER-ASSINATURA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22,3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Pastas enviadas para UNI/CCS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saídas da REVISÃO PRÉ-PASTA para o envio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16,7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Cadastros corrigidos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metade dos ~600 cards/mês com cadastro editado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Cobrança da senha do INSS por WhatsApp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entradas em FALTA SENHA - SOLICITADO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10,7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Cards movidos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todos os movimentos do kanban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1.966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32,8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Comentários do retorno da UNI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entradas em EM ANALISE UNI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2,1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Total se a IA fizesse tudo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208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tao-350"/>
          <p:cNvSpPr/>
          <p:nvPr/>
        </p:nvSpPr>
        <p:spPr>
          <a:xfrm>
            <a:off x="8229600" y="1417320"/>
            <a:ext cx="3410712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6" name="texto-351"/>
          <p:cNvSpPr txBox="1"/>
          <p:nvPr/>
        </p:nvSpPr>
        <p:spPr>
          <a:xfrm>
            <a:off x="8229600" y="1554480"/>
            <a:ext cx="34107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4000" b="1" dirty="0">
                <a:solidFill>
                  <a:schemeClr val="accent3"/>
                </a:solidFill>
              </a:rPr>
              <a:t>104 h</a:t>
            </a:r>
            <a:endParaRPr lang="pt-BR" sz="4000" dirty="0"/>
          </a:p>
        </p:txBody>
      </p:sp>
      <p:sp>
        <p:nvSpPr>
          <p:cNvPr id="7" name="texto-352"/>
          <p:cNvSpPr txBox="1"/>
          <p:nvPr/>
        </p:nvSpPr>
        <p:spPr>
          <a:xfrm>
            <a:off x="8366760" y="229743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altLang="en-US" sz="1250" dirty="0">
                <a:solidFill>
                  <a:schemeClr val="bg1"/>
                </a:solidFill>
              </a:rPr>
              <a:t>por mês com metade dessas tarefas feitas pela IA</a:t>
            </a:r>
            <a:endParaRPr lang="pt-BR" sz="1250" dirty="0"/>
          </a:p>
        </p:txBody>
      </p:sp>
      <p:sp>
        <p:nvSpPr>
          <p:cNvPr id="8" name="cartao-353"/>
          <p:cNvSpPr/>
          <p:nvPr/>
        </p:nvSpPr>
        <p:spPr>
          <a:xfrm>
            <a:off x="8229600" y="3154680"/>
            <a:ext cx="34107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texto-354"/>
          <p:cNvSpPr txBox="1"/>
          <p:nvPr/>
        </p:nvSpPr>
        <p:spPr>
          <a:xfrm>
            <a:off x="8229600" y="3291840"/>
            <a:ext cx="341071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3600" b="1" dirty="0">
                <a:solidFill>
                  <a:schemeClr val="accent1"/>
                </a:solidFill>
              </a:rPr>
              <a:t>~7 h</a:t>
            </a:r>
            <a:endParaRPr lang="pt-BR" sz="3600" dirty="0"/>
          </a:p>
        </p:txBody>
      </p:sp>
      <p:sp>
        <p:nvSpPr>
          <p:cNvPr id="10" name="texto-355"/>
          <p:cNvSpPr txBox="1"/>
          <p:nvPr/>
        </p:nvSpPr>
        <p:spPr>
          <a:xfrm>
            <a:off x="8366760" y="3934206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por pessoa por mês (14 pessoas no kanban) · 4,7 h por dia útil na equipe</a:t>
            </a:r>
            <a:endParaRPr lang="pt-BR" sz="1250" dirty="0"/>
          </a:p>
        </p:txBody>
      </p:sp>
      <p:sp>
        <p:nvSpPr>
          <p:cNvPr id="11" name="cartao-356"/>
          <p:cNvSpPr/>
          <p:nvPr/>
        </p:nvSpPr>
        <p:spPr>
          <a:xfrm>
            <a:off x="8229600" y="4709160"/>
            <a:ext cx="34107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o-357"/>
          <p:cNvSpPr txBox="1"/>
          <p:nvPr/>
        </p:nvSpPr>
        <p:spPr>
          <a:xfrm>
            <a:off x="8229600" y="4846320"/>
            <a:ext cx="34107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3000" b="1" dirty="0">
                <a:solidFill>
                  <a:schemeClr val="accent2"/>
                </a:solidFill>
              </a:rPr>
              <a:t>0,6 pessoa</a:t>
            </a:r>
            <a:endParaRPr lang="pt-BR" sz="3000" dirty="0"/>
          </a:p>
        </p:txBody>
      </p:sp>
      <p:sp>
        <p:nvSpPr>
          <p:cNvPr id="13" name="texto-358"/>
          <p:cNvSpPr txBox="1"/>
          <p:nvPr/>
        </p:nvSpPr>
        <p:spPr>
          <a:xfrm>
            <a:off x="8366760" y="5388102"/>
            <a:ext cx="3136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altLang="en-US" sz="1250" dirty="0">
                <a:solidFill>
                  <a:schemeClr val="tx2"/>
                </a:solidFill>
              </a:rPr>
              <a:t>em tempo integral (1,2 no potencial total)</a:t>
            </a:r>
            <a:endParaRPr lang="pt-BR" sz="1250" dirty="0"/>
          </a:p>
        </p:txBody>
      </p:sp>
      <p:sp>
        <p:nvSpPr>
          <p:cNvPr id="14" name="texto-359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000" dirty="0">
                <a:solidFill>
                  <a:schemeClr val="tx2"/>
                </a:solidFill>
              </a:rPr>
              <a:t>Volumes: média mensal dos últimos 90 dias no kanban (logs lidos em 27/10). Minutos: a tabela do painel; pasta UNI = e-mail 8 + mover 1 + planilha 1. Estimativa — o painel passa a medir o real.</a:t>
            </a:r>
            <a:endParaRPr lang="pt-B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QUANTAS PASTAS A MAIS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 a IA trabalhando por nós: </a:t>
            </a:r>
            <a:r>
              <a:rPr lang="en-US" sz="3000" b="1" dirty="0">
                <a:solidFill>
                  <a:schemeClr val="accent2"/>
                </a:solidFill>
              </a:rPr>
              <a:t>até o dobro de pastas</a:t>
            </a:r>
            <a:endParaRPr lang="en-US" sz="3000" dirty="0"/>
          </a:p>
        </p:txBody>
      </p:sp>
      <p:sp>
        <p:nvSpPr>
          <p:cNvPr id="4" name="cartao-360"/>
          <p:cNvSpPr/>
          <p:nvPr/>
        </p:nvSpPr>
        <p:spPr>
          <a:xfrm>
            <a:off x="548640" y="1463040"/>
            <a:ext cx="64008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graphicFrame>
        <p:nvGraphicFramePr>
          <p:cNvPr id="5" name="grafico-pastas" descr=""/>
          <p:cNvGraphicFramePr/>
          <p:nvPr/>
        </p:nvGraphicFramePr>
        <p:xfrm>
          <a:off x="685800" y="1554480"/>
          <a:ext cx="6126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o-361"/>
          <p:cNvSpPr txBox="1"/>
          <p:nvPr/>
        </p:nvSpPr>
        <p:spPr>
          <a:xfrm>
            <a:off x="777240" y="4846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50" b="1" dirty="0">
                <a:solidFill>
                  <a:schemeClr val="tx1"/>
                </a:solidFill>
              </a:rPr>
              <a:t>+43 pastas/mês</a:t>
            </a:r>
            <a:r>
              <a:rPr lang="pt-BR" altLang="en-US" sz="1350" dirty="0">
                <a:solidFill>
                  <a:schemeClr val="tx1"/>
                </a:solidFill>
              </a:rPr>
              <a:t> com a IA fazendo 30% · </a:t>
            </a:r>
            <a:r>
              <a:rPr lang="pt-BR" altLang="en-US" sz="1350" b="1" dirty="0">
                <a:solidFill>
                  <a:schemeClr val="tx1"/>
                </a:solidFill>
              </a:rPr>
              <a:t>+100 pastas/mês</a:t>
            </a:r>
            <a:r>
              <a:rPr lang="pt-BR" altLang="en-US" sz="1350" dirty="0">
                <a:solidFill>
                  <a:schemeClr val="tx1"/>
                </a:solidFill>
              </a:rPr>
              <a:t> com metade</a:t>
            </a:r>
            <a:endParaRPr lang="pt-BR" sz="1350" dirty="0"/>
          </a:p>
        </p:txBody>
      </p:sp>
      <p:sp>
        <p:nvSpPr>
          <p:cNvPr id="7" name="texto-362"/>
          <p:cNvSpPr txBox="1"/>
          <p:nvPr/>
        </p:nvSpPr>
        <p:spPr>
          <a:xfrm>
            <a:off x="777240" y="5212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200" dirty="0">
                <a:solidFill>
                  <a:schemeClr val="tx2"/>
                </a:solidFill>
              </a:rPr>
              <a:t>Conta: hoje cada pasta custa </a:t>
            </a:r>
            <a:r>
              <a:rPr lang="pt-BR" altLang="en-US" sz="1200" b="1" dirty="0">
                <a:solidFill>
                  <a:schemeClr val="tx2"/>
                </a:solidFill>
              </a:rPr>
              <a:t>~2h05</a:t>
            </a:r>
            <a:r>
              <a:rPr lang="pt-BR" altLang="en-US" sz="1200" dirty="0">
                <a:solidFill>
                  <a:schemeClr val="tx2"/>
                </a:solidFill>
              </a:rPr>
              <a:t> de tarefas que a IA assume (208 h ÷ 100 pastas). Com a IA fazendo metade, cai para ~1h; as mesmas 208 h dão para ~200 pastas.</a:t>
            </a:r>
            <a:endParaRPr lang="pt-BR" sz="1200" dirty="0"/>
          </a:p>
        </p:txBody>
      </p:sp>
      <p:sp>
        <p:nvSpPr>
          <p:cNvPr id="8" name="cartao-363"/>
          <p:cNvSpPr/>
          <p:nvPr/>
        </p:nvSpPr>
        <p:spPr>
          <a:xfrm>
            <a:off x="7223760" y="1463040"/>
            <a:ext cx="44165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texto-364"/>
          <p:cNvSpPr txBox="1"/>
          <p:nvPr/>
        </p:nvSpPr>
        <p:spPr>
          <a:xfrm>
            <a:off x="7424928" y="162763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Por pessoa</a:t>
            </a:r>
            <a:endParaRPr lang="pt-BR" sz="1600" dirty="0"/>
          </a:p>
        </p:txBody>
      </p:sp>
      <p:sp>
        <p:nvSpPr>
          <p:cNvPr id="10" name="texto-365"/>
          <p:cNvSpPr txBox="1"/>
          <p:nvPr/>
        </p:nvSpPr>
        <p:spPr>
          <a:xfrm>
            <a:off x="7424928" y="1975104"/>
            <a:ext cx="4014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14 pessoas fazem o trabalho do kanban: </a:t>
            </a:r>
            <a:r>
              <a:rPr lang="pt-BR" altLang="en-US" sz="1250" b="1" dirty="0">
                <a:solidFill>
                  <a:schemeClr val="tx1"/>
                </a:solidFill>
              </a:rPr>
              <a:t>~7 h por pessoa por mês</a:t>
            </a:r>
            <a:r>
              <a:rPr lang="pt-BR" altLang="en-US" sz="1250" dirty="0">
                <a:solidFill>
                  <a:schemeClr val="tx1"/>
                </a:solidFill>
              </a:rPr>
              <a:t> devolvidas — quase um dia de cada um.</a:t>
            </a:r>
            <a:endParaRPr lang="pt-BR" sz="1250" dirty="0"/>
          </a:p>
        </p:txBody>
      </p:sp>
      <p:sp>
        <p:nvSpPr>
          <p:cNvPr id="11" name="cartao-366"/>
          <p:cNvSpPr/>
          <p:nvPr/>
        </p:nvSpPr>
        <p:spPr>
          <a:xfrm>
            <a:off x="7223760" y="3017520"/>
            <a:ext cx="441655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texto-367"/>
          <p:cNvSpPr txBox="1"/>
          <p:nvPr/>
        </p:nvSpPr>
        <p:spPr>
          <a:xfrm>
            <a:off x="7424928" y="318211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No envio para a UNI</a:t>
            </a:r>
            <a:endParaRPr lang="pt-BR" sz="1600" dirty="0"/>
          </a:p>
        </p:txBody>
      </p:sp>
      <p:sp>
        <p:nvSpPr>
          <p:cNvPr id="13" name="texto-368"/>
          <p:cNvSpPr txBox="1"/>
          <p:nvPr/>
        </p:nvSpPr>
        <p:spPr>
          <a:xfrm>
            <a:off x="7424928" y="3529584"/>
            <a:ext cx="4014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3 pessoas fazem 93% dos envios. Cada pasta passa de </a:t>
            </a:r>
            <a:r>
              <a:rPr lang="pt-BR" altLang="en-US" sz="1250" b="1" dirty="0">
                <a:solidFill>
                  <a:schemeClr val="tx1"/>
                </a:solidFill>
              </a:rPr>
              <a:t>~12 min em 3 sistemas</a:t>
            </a:r>
            <a:r>
              <a:rPr lang="pt-BR" altLang="en-US" sz="1250" dirty="0">
                <a:solidFill>
                  <a:schemeClr val="tx1"/>
                </a:solidFill>
              </a:rPr>
              <a:t> para </a:t>
            </a:r>
            <a:r>
              <a:rPr lang="pt-BR" altLang="en-US" sz="1250" b="1" dirty="0">
                <a:solidFill>
                  <a:schemeClr val="tx1"/>
                </a:solidFill>
              </a:rPr>
              <a:t>~1–2 min</a:t>
            </a:r>
            <a:r>
              <a:rPr lang="pt-BR" altLang="en-US" sz="1250" dirty="0">
                <a:solidFill>
                  <a:schemeClr val="tx1"/>
                </a:solidFill>
              </a:rPr>
              <a:t> de conferência.</a:t>
            </a:r>
            <a:endParaRPr lang="pt-BR" sz="1250" dirty="0"/>
          </a:p>
        </p:txBody>
      </p:sp>
      <p:sp>
        <p:nvSpPr>
          <p:cNvPr id="14" name="cartao-369"/>
          <p:cNvSpPr/>
          <p:nvPr/>
        </p:nvSpPr>
        <p:spPr>
          <a:xfrm>
            <a:off x="7223760" y="4617720"/>
            <a:ext cx="4416552" cy="1508760"/>
          </a:xfrm>
          <a:prstGeom prst="roundRect">
            <a:avLst>
              <a:gd name="adj" fmla="val 7273"/>
            </a:avLst>
          </a:prstGeom>
          <a:solidFill>
            <a:schemeClr val="accent3">
              <a:alpha val="20000"/>
            </a:schemeClr>
          </a:solidFill>
          <a:ln/>
        </p:spPr>
      </p:sp>
      <p:sp>
        <p:nvSpPr>
          <p:cNvPr id="15" name="texto-370"/>
          <p:cNvSpPr txBox="1"/>
          <p:nvPr/>
        </p:nvSpPr>
        <p:spPr>
          <a:xfrm>
            <a:off x="7424928" y="478231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tx1"/>
                </a:solidFill>
              </a:rPr>
              <a:t>O que passa a limitar</a:t>
            </a:r>
            <a:endParaRPr lang="pt-BR" sz="1600" dirty="0"/>
          </a:p>
        </p:txBody>
      </p:sp>
      <p:sp>
        <p:nvSpPr>
          <p:cNvPr id="16" name="texto-371"/>
          <p:cNvSpPr txBox="1"/>
          <p:nvPr/>
        </p:nvSpPr>
        <p:spPr>
          <a:xfrm>
            <a:off x="7424928" y="5129784"/>
            <a:ext cx="4014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altLang="en-US" sz="1250" dirty="0">
                <a:solidFill>
                  <a:schemeClr val="tx1"/>
                </a:solidFill>
              </a:rPr>
              <a:t>A entrada de clientes (~268 contratos/mês) e o tempo do INSS. Roteiro e revisão da pasta seguem humanos e crescem junto.</a:t>
            </a:r>
            <a:endParaRPr lang="pt-B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O QUE A EMPRESA GANHA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Mais casos andando, </a:t>
            </a:r>
            <a:r>
              <a:rPr lang="en-US" sz="3000" b="1" dirty="0">
                <a:solidFill>
                  <a:schemeClr val="accent3"/>
                </a:solidFill>
              </a:rPr>
              <a:t>com a mesma equipe e menos erro</a:t>
            </a:r>
            <a:endParaRPr lang="en-US" sz="3000" dirty="0"/>
          </a:p>
        </p:txBody>
      </p:sp>
      <p:sp>
        <p:nvSpPr>
          <p:cNvPr id="4" name="cartao-372"/>
          <p:cNvSpPr/>
          <p:nvPr/>
        </p:nvSpPr>
        <p:spPr>
          <a:xfrm>
            <a:off x="548640" y="141732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5" name="marca-373"/>
          <p:cNvSpPr/>
          <p:nvPr/>
        </p:nvSpPr>
        <p:spPr>
          <a:xfrm>
            <a:off x="749808" y="164592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374"/>
          <p:cNvSpPr txBox="1"/>
          <p:nvPr/>
        </p:nvSpPr>
        <p:spPr>
          <a:xfrm>
            <a:off x="1024128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bg1"/>
                </a:solidFill>
              </a:rPr>
              <a:t>Capacidade</a:t>
            </a:r>
            <a:endParaRPr lang="pt-BR" sz="1600" dirty="0"/>
          </a:p>
        </p:txBody>
      </p:sp>
      <p:sp>
        <p:nvSpPr>
          <p:cNvPr id="7" name="texto-375"/>
          <p:cNvSpPr txBox="1"/>
          <p:nvPr/>
        </p:nvSpPr>
        <p:spPr>
          <a:xfrm>
            <a:off x="749808" y="196596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Até o dobro de pastas</a:t>
            </a:r>
            <a:r>
              <a:rPr lang="pt-BR" altLang="en-US" sz="1300" dirty="0">
                <a:solidFill>
                  <a:schemeClr val="bg1"/>
                </a:solidFill>
              </a:rPr>
              <a:t> na parte operacional com a mesma equipe; ~104 h/mês devolvidas.</a:t>
            </a:r>
            <a:endParaRPr lang="pt-BR" sz="1300" dirty="0"/>
          </a:p>
        </p:txBody>
      </p:sp>
      <p:sp>
        <p:nvSpPr>
          <p:cNvPr id="8" name="cartao-376"/>
          <p:cNvSpPr/>
          <p:nvPr/>
        </p:nvSpPr>
        <p:spPr>
          <a:xfrm>
            <a:off x="4334256" y="141732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marca-377"/>
          <p:cNvSpPr/>
          <p:nvPr/>
        </p:nvSpPr>
        <p:spPr>
          <a:xfrm>
            <a:off x="4535424" y="16459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o-378"/>
          <p:cNvSpPr txBox="1"/>
          <p:nvPr/>
        </p:nvSpPr>
        <p:spPr>
          <a:xfrm>
            <a:off x="4809744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bg1"/>
                </a:solidFill>
              </a:rPr>
              <a:t>Velocidade</a:t>
            </a:r>
            <a:endParaRPr lang="pt-BR" sz="1600" dirty="0"/>
          </a:p>
        </p:txBody>
      </p:sp>
      <p:sp>
        <p:nvSpPr>
          <p:cNvPr id="11" name="texto-379"/>
          <p:cNvSpPr txBox="1"/>
          <p:nvPr/>
        </p:nvSpPr>
        <p:spPr>
          <a:xfrm>
            <a:off x="4535424" y="196596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Cobrança de 20 clientes em ~30 s; pendências de uma coluna numa resposta; prontuário e pasta da UNI no dia em que o card chega.</a:t>
            </a:r>
            <a:endParaRPr lang="pt-BR" sz="1300" dirty="0"/>
          </a:p>
        </p:txBody>
      </p:sp>
      <p:sp>
        <p:nvSpPr>
          <p:cNvPr id="12" name="cartao-380"/>
          <p:cNvSpPr/>
          <p:nvPr/>
        </p:nvSpPr>
        <p:spPr>
          <a:xfrm>
            <a:off x="8119872" y="141732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marca-381"/>
          <p:cNvSpPr/>
          <p:nvPr/>
        </p:nvSpPr>
        <p:spPr>
          <a:xfrm>
            <a:off x="8321040" y="164592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o-382"/>
          <p:cNvSpPr txBox="1"/>
          <p:nvPr/>
        </p:nvSpPr>
        <p:spPr>
          <a:xfrm>
            <a:off x="8595360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bg1"/>
                </a:solidFill>
              </a:rPr>
              <a:t>Menos retrabalho</a:t>
            </a:r>
            <a:endParaRPr lang="pt-BR" sz="1600" dirty="0"/>
          </a:p>
        </p:txBody>
      </p:sp>
      <p:sp>
        <p:nvSpPr>
          <p:cNvPr id="15" name="texto-383"/>
          <p:cNvSpPr txBox="1"/>
          <p:nvPr/>
        </p:nvSpPr>
        <p:spPr>
          <a:xfrm>
            <a:off x="8321040" y="196596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Documento nunca sai com campo em branco; cadastro conferido contra RG/CNH; a varredura acha CPF inválido e duplicados.</a:t>
            </a:r>
            <a:endParaRPr lang="pt-BR" sz="1300" dirty="0"/>
          </a:p>
        </p:txBody>
      </p:sp>
      <p:sp>
        <p:nvSpPr>
          <p:cNvPr id="16" name="cartao-384"/>
          <p:cNvSpPr/>
          <p:nvPr/>
        </p:nvSpPr>
        <p:spPr>
          <a:xfrm>
            <a:off x="548640" y="3401568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7" name="marca-385"/>
          <p:cNvSpPr/>
          <p:nvPr/>
        </p:nvSpPr>
        <p:spPr>
          <a:xfrm>
            <a:off x="749808" y="3630168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exto-386"/>
          <p:cNvSpPr txBox="1"/>
          <p:nvPr/>
        </p:nvSpPr>
        <p:spPr>
          <a:xfrm>
            <a:off x="1024128" y="35570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bg1"/>
                </a:solidFill>
              </a:rPr>
              <a:t>Dinheiro entra antes</a:t>
            </a:r>
            <a:endParaRPr lang="pt-BR" sz="1600" dirty="0"/>
          </a:p>
        </p:txBody>
      </p:sp>
      <p:sp>
        <p:nvSpPr>
          <p:cNvPr id="19" name="texto-387"/>
          <p:cNvSpPr txBox="1"/>
          <p:nvPr/>
        </p:nvSpPr>
        <p:spPr>
          <a:xfrm>
            <a:off x="749808" y="3950208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~183 pedidos de prontuário e ~100 pastas para a UNI por mês: cada dia a menos na fila antecipa a análise e o pagamento.</a:t>
            </a:r>
            <a:endParaRPr lang="pt-BR" sz="1300" dirty="0"/>
          </a:p>
        </p:txBody>
      </p:sp>
      <p:sp>
        <p:nvSpPr>
          <p:cNvPr id="20" name="cartao-388"/>
          <p:cNvSpPr/>
          <p:nvPr/>
        </p:nvSpPr>
        <p:spPr>
          <a:xfrm>
            <a:off x="4334256" y="3401568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marca-389"/>
          <p:cNvSpPr/>
          <p:nvPr/>
        </p:nvSpPr>
        <p:spPr>
          <a:xfrm>
            <a:off x="4535424" y="3630168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texto-390"/>
          <p:cNvSpPr txBox="1"/>
          <p:nvPr/>
        </p:nvSpPr>
        <p:spPr>
          <a:xfrm>
            <a:off x="4809744" y="35570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bg1"/>
                </a:solidFill>
              </a:rPr>
              <a:t>Controle total</a:t>
            </a:r>
            <a:endParaRPr lang="pt-BR" sz="1600" dirty="0"/>
          </a:p>
        </p:txBody>
      </p:sp>
      <p:sp>
        <p:nvSpPr>
          <p:cNvPr id="23" name="texto-391"/>
          <p:cNvSpPr txBox="1"/>
          <p:nvPr/>
        </p:nvSpPr>
        <p:spPr>
          <a:xfrm>
            <a:off x="4535424" y="3950208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Toda ação com autor, quem pediu e quem aprovou. Painel por pessoa com entregas, horas e o chat inteiro.</a:t>
            </a:r>
            <a:endParaRPr lang="pt-BR" sz="1300" dirty="0"/>
          </a:p>
        </p:txBody>
      </p:sp>
      <p:sp>
        <p:nvSpPr>
          <p:cNvPr id="24" name="cartao-392"/>
          <p:cNvSpPr/>
          <p:nvPr/>
        </p:nvSpPr>
        <p:spPr>
          <a:xfrm>
            <a:off x="8119872" y="3401568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5" name="marca-393"/>
          <p:cNvSpPr/>
          <p:nvPr/>
        </p:nvSpPr>
        <p:spPr>
          <a:xfrm>
            <a:off x="8321040" y="363016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o-394"/>
          <p:cNvSpPr txBox="1"/>
          <p:nvPr/>
        </p:nvSpPr>
        <p:spPr>
          <a:xfrm>
            <a:off x="8595360" y="35570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600" b="1" dirty="0">
                <a:solidFill>
                  <a:schemeClr val="bg1"/>
                </a:solidFill>
              </a:rPr>
              <a:t>Conhecimento que fica</a:t>
            </a:r>
            <a:endParaRPr lang="pt-BR" sz="1600" dirty="0"/>
          </a:p>
        </p:txBody>
      </p:sp>
      <p:sp>
        <p:nvSpPr>
          <p:cNvPr id="27" name="texto-395"/>
          <p:cNvSpPr txBox="1"/>
          <p:nvPr/>
        </p:nvSpPr>
        <p:spPr>
          <a:xfrm>
            <a:off x="8321040" y="3950208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1300" dirty="0">
                <a:solidFill>
                  <a:schemeClr val="bg1"/>
                </a:solidFill>
              </a:rPr>
              <a:t>163 procedimentos de hospital revisados e roteiros escritos: quem entra novo trabalha como quem já sabe.</a:t>
            </a:r>
            <a:endParaRPr lang="pt-BR" sz="1300" dirty="0"/>
          </a:p>
        </p:txBody>
      </p:sp>
      <p:sp>
        <p:nvSpPr>
          <p:cNvPr id="28" name="cartao-396"/>
          <p:cNvSpPr/>
          <p:nvPr/>
        </p:nvSpPr>
        <p:spPr>
          <a:xfrm>
            <a:off x="548640" y="544068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9" name="texto-397"/>
          <p:cNvSpPr txBox="1"/>
          <p:nvPr/>
        </p:nvSpPr>
        <p:spPr>
          <a:xfrm>
            <a:off x="749808" y="5440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chemeClr val="bg1"/>
                </a:solidFill>
              </a:rPr>
              <a:t>Sem risco novo:</a:t>
            </a:r>
            <a:r>
              <a:rPr lang="pt-BR" altLang="en-US" sz="1300" dirty="0">
                <a:solidFill>
                  <a:schemeClr val="bg1"/>
                </a:solidFill>
              </a:rPr>
              <a:t> nada sai para cliente, hospital ou UNI sem a confirmação do operador, e o anti-spam do WhatsApp continua protegendo as duas linhas.</a:t>
            </a:r>
            <a:endParaRPr lang="pt-BR" sz="1300" dirty="0"/>
          </a:p>
        </p:txBody>
      </p:sp>
      <p:sp>
        <p:nvSpPr>
          <p:cNvPr id="30" name="texto-39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altLang="en-US" sz="1700" b="1" i="1" dirty="0">
                <a:solidFill>
                  <a:schemeClr val="accent3"/>
                </a:solidFill>
              </a:rPr>
              <a:t>A IA faz o trabalho pesado. A equipe decide. O CRM confere e registra.</a:t>
            </a:r>
            <a:endParaRPr lang="pt-B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First Seguros Parana">
  <a:themeElements>
    <a:clrScheme name="AI First Seguros Parana">
      <a:dk1>
        <a:srgbClr val="132238"/>
      </a:dk1>
      <a:lt1>
        <a:srgbClr val="FFFFFF"/>
      </a:lt1>
      <a:dk2>
        <a:srgbClr val="5B6576"/>
      </a:dk2>
      <a:lt2>
        <a:srgbClr val="F3F4F6"/>
      </a:lt2>
      <a:accent1>
        <a:srgbClr val="0F6B78"/>
      </a:accent1>
      <a:accent2>
        <a:srgbClr val="E8684A"/>
      </a:accent2>
      <a:accent3>
        <a:srgbClr val="E9A62B"/>
      </a:accent3>
      <a:accent4>
        <a:srgbClr val="2E9D6B"/>
      </a:accent4>
      <a:accent5>
        <a:srgbClr val="3A6FD8"/>
      </a:accent5>
      <a:accent6>
        <a:srgbClr val="7A5BD0"/>
      </a:accent6>
      <a:hlink>
        <a:srgbClr val="0F6B78"/>
      </a:hlink>
      <a:folHlink>
        <a:srgbClr val="7A5BD0"/>
      </a:folHlink>
    </a:clrScheme>
    <a:fontScheme name="AI First Seguros Paran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First — Seguros Paraná</dc:title>
  <dc:subject>PptxGenJS Presentation</dc:subject>
  <dc:creator>Seguros Paraná</dc:creator>
  <cp:lastModifiedBy>Seguros Paraná</cp:lastModifiedBy>
  <cp:revision>1</cp:revision>
  <dcterms:created xsi:type="dcterms:W3CDTF">2026-10-27T16:04:50Z</dcterms:created>
  <dcterms:modified xsi:type="dcterms:W3CDTF">2026-10-27T16:04:50Z</dcterms:modified>
</cp:coreProperties>
</file>